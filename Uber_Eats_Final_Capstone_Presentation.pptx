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927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777240" y="685800"/>
            <a:ext cx="10607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2BBEAE"/>
                </a:solidFill>
                <a:latin typeface="Arial"/>
                <a:ea typeface="Arial"/>
                <a:cs typeface="Arial"/>
                <a:sym typeface="Arial"/>
              </a:rPr>
              <a:t>FINAL CAPSTONE PRESENTATION  |  30 OCTOBER 2026</a:t>
            </a:r>
            <a:endParaRPr/>
          </a:p>
        </p:txBody>
      </p:sp>
      <p:sp>
        <p:nvSpPr>
          <p:cNvPr id="85" name="Google Shape;85;p13"/>
          <p:cNvSpPr txBox="1"/>
          <p:nvPr/>
        </p:nvSpPr>
        <p:spPr>
          <a:xfrm>
            <a:off x="777240" y="1508760"/>
            <a:ext cx="1042416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Uber Eats Operational</a:t>
            </a:r>
            <a:br>
              <a:rPr b="1" lang="en-US" sz="34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-US" sz="34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&amp; Customer Intelligence System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822960" y="3246120"/>
            <a:ext cx="96012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B1BECF"/>
                </a:solidFill>
                <a:latin typeface="Arial"/>
                <a:ea typeface="Arial"/>
                <a:cs typeface="Arial"/>
                <a:sym typeface="Arial"/>
              </a:rPr>
              <a:t>An end-to-end analytics workflow for understanding customers, restaurants, delivery performance and order demand.</a:t>
            </a:r>
            <a:endParaRPr/>
          </a:p>
        </p:txBody>
      </p:sp>
      <p:sp>
        <p:nvSpPr>
          <p:cNvPr id="87" name="Google Shape;87;p13"/>
          <p:cNvSpPr/>
          <p:nvPr/>
        </p:nvSpPr>
        <p:spPr>
          <a:xfrm>
            <a:off x="822960" y="4709160"/>
            <a:ext cx="3246120" cy="960120"/>
          </a:xfrm>
          <a:prstGeom prst="roundRect">
            <a:avLst>
              <a:gd fmla="val 16667" name="adj"/>
            </a:avLst>
          </a:prstGeom>
          <a:solidFill>
            <a:srgbClr val="1B293C"/>
          </a:solidFill>
          <a:ln cap="flat" cmpd="sng" w="9525">
            <a:solidFill>
              <a:srgbClr val="1B293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1024128" y="4873752"/>
            <a:ext cx="2843784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2BBEAE"/>
                </a:solidFill>
                <a:latin typeface="Arial"/>
                <a:ea typeface="Arial"/>
                <a:cs typeface="Arial"/>
                <a:sym typeface="Arial"/>
              </a:rPr>
              <a:t>PROJECT SCOPE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966975" y="5179150"/>
            <a:ext cx="3102000" cy="4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Segmentation  •  NLP  •  Regression  •  Forecasting</a:t>
            </a:r>
            <a:endParaRPr/>
          </a:p>
        </p:txBody>
      </p:sp>
      <p:sp>
        <p:nvSpPr>
          <p:cNvPr id="90" name="Google Shape;90;p13"/>
          <p:cNvSpPr/>
          <p:nvPr/>
        </p:nvSpPr>
        <p:spPr>
          <a:xfrm>
            <a:off x="4434840" y="4709160"/>
            <a:ext cx="3246120" cy="960120"/>
          </a:xfrm>
          <a:prstGeom prst="roundRect">
            <a:avLst>
              <a:gd fmla="val 16667" name="adj"/>
            </a:avLst>
          </a:prstGeom>
          <a:solidFill>
            <a:srgbClr val="1B293C"/>
          </a:solidFill>
          <a:ln cap="flat" cmpd="sng" w="9525">
            <a:solidFill>
              <a:srgbClr val="1B293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4636007" y="4873752"/>
            <a:ext cx="2843784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EBB75C"/>
                </a:solidFill>
                <a:latin typeface="Arial"/>
                <a:ea typeface="Arial"/>
                <a:cs typeface="Arial"/>
                <a:sym typeface="Arial"/>
              </a:rPr>
              <a:t>APPROACH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4636000" y="5174125"/>
            <a:ext cx="3102000" cy="4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Python  •  Pandas  •  Scikit-learn  •  Statsmodels</a:t>
            </a:r>
            <a:endParaRPr/>
          </a:p>
        </p:txBody>
      </p:sp>
      <p:sp>
        <p:nvSpPr>
          <p:cNvPr id="93" name="Google Shape;93;p13"/>
          <p:cNvSpPr/>
          <p:nvPr/>
        </p:nvSpPr>
        <p:spPr>
          <a:xfrm>
            <a:off x="8046720" y="4709160"/>
            <a:ext cx="3246120" cy="960120"/>
          </a:xfrm>
          <a:prstGeom prst="roundRect">
            <a:avLst>
              <a:gd fmla="val 16667" name="adj"/>
            </a:avLst>
          </a:prstGeom>
          <a:solidFill>
            <a:srgbClr val="1B293C"/>
          </a:solidFill>
          <a:ln cap="flat" cmpd="sng" w="9525">
            <a:solidFill>
              <a:srgbClr val="1B293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3"/>
          <p:cNvSpPr txBox="1"/>
          <p:nvPr/>
        </p:nvSpPr>
        <p:spPr>
          <a:xfrm>
            <a:off x="8247888" y="4873752"/>
            <a:ext cx="2843784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2BBEAE"/>
                </a:solidFill>
                <a:latin typeface="Arial"/>
                <a:ea typeface="Arial"/>
                <a:cs typeface="Arial"/>
                <a:sym typeface="Arial"/>
              </a:rPr>
              <a:t>REPOSITORY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8247888" y="5217256"/>
            <a:ext cx="28437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github.com/shanmuksrivatsav/uber-eats-intelligence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594360" y="6510528"/>
            <a:ext cx="98755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>
                <a:solidFill>
                  <a:srgbClr val="B1BECF"/>
                </a:solidFill>
                <a:latin typeface="Arial"/>
                <a:ea typeface="Arial"/>
                <a:cs typeface="Arial"/>
                <a:sym typeface="Arial"/>
              </a:rPr>
              <a:t>UBER EATS OPERATIONAL &amp; CUSTOMER INTELLIGENCE SYSTEM  •  SYNTHETIC-DATA CAPSTONE</a:t>
            </a:r>
            <a:endParaRPr/>
          </a:p>
        </p:txBody>
      </p:sp>
      <p:sp>
        <p:nvSpPr>
          <p:cNvPr id="97" name="Google Shape;97;p13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2BBEAE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927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2BBEAE"/>
                </a:solidFill>
                <a:latin typeface="Arial"/>
                <a:ea typeface="Arial"/>
                <a:cs typeface="Arial"/>
                <a:sym typeface="Arial"/>
              </a:rPr>
              <a:t>01 / BUSINESS CONTEXT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From marketplace data to operational decisions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621792" y="1353312"/>
            <a:ext cx="10881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B1BECF"/>
                </a:solidFill>
                <a:latin typeface="Arial"/>
                <a:ea typeface="Arial"/>
                <a:cs typeface="Arial"/>
                <a:sym typeface="Arial"/>
              </a:rPr>
              <a:t>The project connects customer behavior, restaurant operations and delivery capacity.</a:t>
            </a:r>
            <a:endParaRPr/>
          </a:p>
        </p:txBody>
      </p:sp>
      <p:sp>
        <p:nvSpPr>
          <p:cNvPr id="105" name="Google Shape;105;p14"/>
          <p:cNvSpPr/>
          <p:nvPr/>
        </p:nvSpPr>
        <p:spPr>
          <a:xfrm>
            <a:off x="640080" y="1965960"/>
            <a:ext cx="3520440" cy="3246120"/>
          </a:xfrm>
          <a:prstGeom prst="roundRect">
            <a:avLst>
              <a:gd fmla="val 16667" name="adj"/>
            </a:avLst>
          </a:prstGeom>
          <a:solidFill>
            <a:srgbClr val="1B293C"/>
          </a:solidFill>
          <a:ln cap="flat" cmpd="sng" w="9525">
            <a:solidFill>
              <a:srgbClr val="1B293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4"/>
          <p:cNvSpPr txBox="1"/>
          <p:nvPr/>
        </p:nvSpPr>
        <p:spPr>
          <a:xfrm>
            <a:off x="841247" y="2130552"/>
            <a:ext cx="3118104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2BBEAE"/>
                </a:solidFill>
                <a:latin typeface="Arial"/>
                <a:ea typeface="Arial"/>
                <a:cs typeface="Arial"/>
                <a:sym typeface="Arial"/>
              </a:rPr>
              <a:t>CUSTOMER INTELLIGENCE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841247" y="2560320"/>
            <a:ext cx="3118200" cy="18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• Identify valuable customer groups</a:t>
            </a:r>
            <a:br>
              <a:rPr b="0" lang="en-US" sz="17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US" sz="17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• Understand feedback and dissatisfaction</a:t>
            </a:r>
            <a:br>
              <a:rPr b="0" lang="en-US" sz="17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US" sz="17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• Support targeted retention initiatives</a:t>
            </a:r>
            <a:endParaRPr/>
          </a:p>
        </p:txBody>
      </p:sp>
      <p:sp>
        <p:nvSpPr>
          <p:cNvPr id="108" name="Google Shape;108;p14"/>
          <p:cNvSpPr/>
          <p:nvPr/>
        </p:nvSpPr>
        <p:spPr>
          <a:xfrm>
            <a:off x="4343400" y="1965960"/>
            <a:ext cx="3520440" cy="3246120"/>
          </a:xfrm>
          <a:prstGeom prst="roundRect">
            <a:avLst>
              <a:gd fmla="val 16667" name="adj"/>
            </a:avLst>
          </a:prstGeom>
          <a:solidFill>
            <a:srgbClr val="1B293C"/>
          </a:solidFill>
          <a:ln cap="flat" cmpd="sng" w="9525">
            <a:solidFill>
              <a:srgbClr val="1B293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4"/>
          <p:cNvSpPr txBox="1"/>
          <p:nvPr/>
        </p:nvSpPr>
        <p:spPr>
          <a:xfrm>
            <a:off x="4544568" y="2130552"/>
            <a:ext cx="3118104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EBB75C"/>
                </a:solidFill>
                <a:latin typeface="Arial"/>
                <a:ea typeface="Arial"/>
                <a:cs typeface="Arial"/>
                <a:sym typeface="Arial"/>
              </a:rPr>
              <a:t>OPERATIONS INTELLIGENCE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4544568" y="2560320"/>
            <a:ext cx="3118200" cy="15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• Understand restaurant performance</a:t>
            </a:r>
            <a:br>
              <a:rPr b="0" lang="en-US" sz="17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US" sz="17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• Estimate delivery duration</a:t>
            </a:r>
            <a:br>
              <a:rPr b="0" lang="en-US" sz="17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US" sz="17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• Identify operational drivers of delay</a:t>
            </a:r>
            <a:endParaRPr/>
          </a:p>
        </p:txBody>
      </p:sp>
      <p:sp>
        <p:nvSpPr>
          <p:cNvPr id="111" name="Google Shape;111;p14"/>
          <p:cNvSpPr/>
          <p:nvPr/>
        </p:nvSpPr>
        <p:spPr>
          <a:xfrm>
            <a:off x="8046720" y="1965960"/>
            <a:ext cx="3520440" cy="3246120"/>
          </a:xfrm>
          <a:prstGeom prst="roundRect">
            <a:avLst>
              <a:gd fmla="val 16667" name="adj"/>
            </a:avLst>
          </a:prstGeom>
          <a:solidFill>
            <a:srgbClr val="1B293C"/>
          </a:solidFill>
          <a:ln cap="flat" cmpd="sng" w="9525">
            <a:solidFill>
              <a:srgbClr val="1B293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8247888" y="2130552"/>
            <a:ext cx="3118104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2BBEAE"/>
                </a:solidFill>
                <a:latin typeface="Arial"/>
                <a:ea typeface="Arial"/>
                <a:cs typeface="Arial"/>
                <a:sym typeface="Arial"/>
              </a:rPr>
              <a:t>DEMAND INTELLIGENCE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8247888" y="2560320"/>
            <a:ext cx="3118200" cy="18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• Discover hourly demand patterns</a:t>
            </a:r>
            <a:br>
              <a:rPr b="0" lang="en-US" sz="17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US" sz="17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• Forecast near-term order volume</a:t>
            </a:r>
            <a:br>
              <a:rPr b="0" lang="en-US" sz="17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US" sz="17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• Inform rider and capacity planning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594360" y="6510528"/>
            <a:ext cx="98755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>
                <a:solidFill>
                  <a:srgbClr val="B1BECF"/>
                </a:solidFill>
                <a:latin typeface="Arial"/>
                <a:ea typeface="Arial"/>
                <a:cs typeface="Arial"/>
                <a:sym typeface="Arial"/>
              </a:rPr>
              <a:t>UBER EATS OPERATIONAL &amp; CUSTOMER INTELLIGENCE SYSTEM  •  SYNTHETIC-DATA CAPSTONE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2BBEAE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927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5"/>
          <p:cNvSpPr txBox="1"/>
          <p:nvPr/>
        </p:nvSpPr>
        <p:spPr>
          <a:xfrm>
            <a:off x="594360" y="276908"/>
            <a:ext cx="109728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2BBEAE"/>
                </a:solidFill>
                <a:latin typeface="Arial"/>
                <a:ea typeface="Arial"/>
                <a:cs typeface="Arial"/>
                <a:sym typeface="Arial"/>
              </a:rPr>
              <a:t>02 / DATASET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594360" y="670100"/>
            <a:ext cx="109728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A synthetic food-delivery marketplace schema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621792" y="1310180"/>
            <a:ext cx="108813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B1BECF"/>
                </a:solidFill>
                <a:latin typeface="Arial"/>
                <a:ea typeface="Arial"/>
                <a:cs typeface="Arial"/>
                <a:sym typeface="Arial"/>
              </a:rPr>
              <a:t>Seven related tables were generated for the capstone; results are illustrative, not production Uber Eats statistics.</a:t>
            </a:r>
            <a:endParaRPr/>
          </a:p>
        </p:txBody>
      </p:sp>
      <p:sp>
        <p:nvSpPr>
          <p:cNvPr id="123" name="Google Shape;123;p15"/>
          <p:cNvSpPr/>
          <p:nvPr/>
        </p:nvSpPr>
        <p:spPr>
          <a:xfrm>
            <a:off x="731520" y="1785668"/>
            <a:ext cx="5074800" cy="841200"/>
          </a:xfrm>
          <a:prstGeom prst="roundRect">
            <a:avLst>
              <a:gd fmla="val 16667" name="adj"/>
            </a:avLst>
          </a:prstGeom>
          <a:solidFill>
            <a:srgbClr val="1B293C"/>
          </a:solidFill>
          <a:ln cap="flat" cmpd="sng" w="9525">
            <a:solidFill>
              <a:srgbClr val="1B293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932688" y="1950260"/>
            <a:ext cx="46725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2BBEAE"/>
                </a:solidFill>
                <a:latin typeface="Arial"/>
                <a:ea typeface="Arial"/>
                <a:cs typeface="Arial"/>
                <a:sym typeface="Arial"/>
              </a:rPr>
              <a:t>CUSTOMERS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932688" y="2336896"/>
            <a:ext cx="46725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Customer attributes and behavior</a:t>
            </a:r>
            <a:endParaRPr/>
          </a:p>
        </p:txBody>
      </p:sp>
      <p:sp>
        <p:nvSpPr>
          <p:cNvPr id="126" name="Google Shape;126;p15"/>
          <p:cNvSpPr/>
          <p:nvPr/>
        </p:nvSpPr>
        <p:spPr>
          <a:xfrm>
            <a:off x="6217920" y="1785668"/>
            <a:ext cx="5074800" cy="841200"/>
          </a:xfrm>
          <a:prstGeom prst="roundRect">
            <a:avLst>
              <a:gd fmla="val 16667" name="adj"/>
            </a:avLst>
          </a:prstGeom>
          <a:solidFill>
            <a:srgbClr val="1B293C"/>
          </a:solidFill>
          <a:ln cap="flat" cmpd="sng" w="9525">
            <a:solidFill>
              <a:srgbClr val="1B293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5"/>
          <p:cNvSpPr txBox="1"/>
          <p:nvPr/>
        </p:nvSpPr>
        <p:spPr>
          <a:xfrm>
            <a:off x="6419088" y="1950260"/>
            <a:ext cx="46725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EBB75C"/>
                </a:solidFill>
                <a:latin typeface="Arial"/>
                <a:ea typeface="Arial"/>
                <a:cs typeface="Arial"/>
                <a:sym typeface="Arial"/>
              </a:rPr>
              <a:t>RESTAURANTS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6419088" y="2336896"/>
            <a:ext cx="46725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Cuisine, rating and preparation profile</a:t>
            </a:r>
            <a:endParaRPr/>
          </a:p>
        </p:txBody>
      </p:sp>
      <p:sp>
        <p:nvSpPr>
          <p:cNvPr id="129" name="Google Shape;129;p15"/>
          <p:cNvSpPr/>
          <p:nvPr/>
        </p:nvSpPr>
        <p:spPr>
          <a:xfrm>
            <a:off x="731520" y="2837228"/>
            <a:ext cx="5074800" cy="841200"/>
          </a:xfrm>
          <a:prstGeom prst="roundRect">
            <a:avLst>
              <a:gd fmla="val 16667" name="adj"/>
            </a:avLst>
          </a:prstGeom>
          <a:solidFill>
            <a:srgbClr val="1B293C"/>
          </a:solidFill>
          <a:ln cap="flat" cmpd="sng" w="9525">
            <a:solidFill>
              <a:srgbClr val="1B293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5"/>
          <p:cNvSpPr txBox="1"/>
          <p:nvPr/>
        </p:nvSpPr>
        <p:spPr>
          <a:xfrm>
            <a:off x="932688" y="3001820"/>
            <a:ext cx="46725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2BBEAE"/>
                </a:solidFill>
                <a:latin typeface="Arial"/>
                <a:ea typeface="Arial"/>
                <a:cs typeface="Arial"/>
                <a:sym typeface="Arial"/>
              </a:rPr>
              <a:t>ORDERS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932688" y="3388456"/>
            <a:ext cx="46725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Order values, status and timestamps</a:t>
            </a:r>
            <a:endParaRPr/>
          </a:p>
        </p:txBody>
      </p:sp>
      <p:sp>
        <p:nvSpPr>
          <p:cNvPr id="132" name="Google Shape;132;p15"/>
          <p:cNvSpPr/>
          <p:nvPr/>
        </p:nvSpPr>
        <p:spPr>
          <a:xfrm>
            <a:off x="6217920" y="2837228"/>
            <a:ext cx="5074800" cy="841200"/>
          </a:xfrm>
          <a:prstGeom prst="roundRect">
            <a:avLst>
              <a:gd fmla="val 16667" name="adj"/>
            </a:avLst>
          </a:prstGeom>
          <a:solidFill>
            <a:srgbClr val="1B293C"/>
          </a:solidFill>
          <a:ln cap="flat" cmpd="sng" w="9525">
            <a:solidFill>
              <a:srgbClr val="1B293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5"/>
          <p:cNvSpPr txBox="1"/>
          <p:nvPr/>
        </p:nvSpPr>
        <p:spPr>
          <a:xfrm>
            <a:off x="6419088" y="3001820"/>
            <a:ext cx="46725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EBB75C"/>
                </a:solidFill>
                <a:latin typeface="Arial"/>
                <a:ea typeface="Arial"/>
                <a:cs typeface="Arial"/>
                <a:sym typeface="Arial"/>
              </a:rPr>
              <a:t>DELIVERIES</a:t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>
            <a:off x="6419088" y="3388456"/>
            <a:ext cx="46725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Delivery duration and operational details</a:t>
            </a:r>
            <a:endParaRPr/>
          </a:p>
        </p:txBody>
      </p:sp>
      <p:sp>
        <p:nvSpPr>
          <p:cNvPr id="135" name="Google Shape;135;p15"/>
          <p:cNvSpPr/>
          <p:nvPr/>
        </p:nvSpPr>
        <p:spPr>
          <a:xfrm>
            <a:off x="731520" y="3888788"/>
            <a:ext cx="5074800" cy="841200"/>
          </a:xfrm>
          <a:prstGeom prst="roundRect">
            <a:avLst>
              <a:gd fmla="val 16667" name="adj"/>
            </a:avLst>
          </a:prstGeom>
          <a:solidFill>
            <a:srgbClr val="1B293C"/>
          </a:solidFill>
          <a:ln cap="flat" cmpd="sng" w="9525">
            <a:solidFill>
              <a:srgbClr val="1B293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5"/>
          <p:cNvSpPr txBox="1"/>
          <p:nvPr/>
        </p:nvSpPr>
        <p:spPr>
          <a:xfrm>
            <a:off x="932688" y="4053379"/>
            <a:ext cx="46725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2BBEAE"/>
                </a:solidFill>
                <a:latin typeface="Arial"/>
                <a:ea typeface="Arial"/>
                <a:cs typeface="Arial"/>
                <a:sym typeface="Arial"/>
              </a:rPr>
              <a:t>DRIVERS</a:t>
            </a:r>
            <a:endParaRPr/>
          </a:p>
        </p:txBody>
      </p:sp>
      <p:sp>
        <p:nvSpPr>
          <p:cNvPr id="137" name="Google Shape;137;p15"/>
          <p:cNvSpPr txBox="1"/>
          <p:nvPr/>
        </p:nvSpPr>
        <p:spPr>
          <a:xfrm>
            <a:off x="932688" y="4440016"/>
            <a:ext cx="46725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Driver-level information</a:t>
            </a:r>
            <a:endParaRPr/>
          </a:p>
        </p:txBody>
      </p:sp>
      <p:sp>
        <p:nvSpPr>
          <p:cNvPr id="138" name="Google Shape;138;p15"/>
          <p:cNvSpPr/>
          <p:nvPr/>
        </p:nvSpPr>
        <p:spPr>
          <a:xfrm>
            <a:off x="6217920" y="3888788"/>
            <a:ext cx="5074800" cy="841200"/>
          </a:xfrm>
          <a:prstGeom prst="roundRect">
            <a:avLst>
              <a:gd fmla="val 16667" name="adj"/>
            </a:avLst>
          </a:prstGeom>
          <a:solidFill>
            <a:srgbClr val="1B293C"/>
          </a:solidFill>
          <a:ln cap="flat" cmpd="sng" w="9525">
            <a:solidFill>
              <a:srgbClr val="1B293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5"/>
          <p:cNvSpPr txBox="1"/>
          <p:nvPr/>
        </p:nvSpPr>
        <p:spPr>
          <a:xfrm>
            <a:off x="6419088" y="4053379"/>
            <a:ext cx="46725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EBB75C"/>
                </a:solidFill>
                <a:latin typeface="Arial"/>
                <a:ea typeface="Arial"/>
                <a:cs typeface="Arial"/>
                <a:sym typeface="Arial"/>
              </a:rPr>
              <a:t>REVIEWS</a:t>
            </a:r>
            <a:endParaRPr/>
          </a:p>
        </p:txBody>
      </p:sp>
      <p:sp>
        <p:nvSpPr>
          <p:cNvPr id="140" name="Google Shape;140;p15"/>
          <p:cNvSpPr txBox="1"/>
          <p:nvPr/>
        </p:nvSpPr>
        <p:spPr>
          <a:xfrm>
            <a:off x="6419088" y="4440016"/>
            <a:ext cx="46725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Customer feedback text and ratings</a:t>
            </a:r>
            <a:endParaRPr/>
          </a:p>
        </p:txBody>
      </p:sp>
      <p:sp>
        <p:nvSpPr>
          <p:cNvPr id="141" name="Google Shape;141;p15"/>
          <p:cNvSpPr/>
          <p:nvPr/>
        </p:nvSpPr>
        <p:spPr>
          <a:xfrm>
            <a:off x="731520" y="4940347"/>
            <a:ext cx="5074800" cy="841200"/>
          </a:xfrm>
          <a:prstGeom prst="roundRect">
            <a:avLst>
              <a:gd fmla="val 16667" name="adj"/>
            </a:avLst>
          </a:prstGeom>
          <a:solidFill>
            <a:srgbClr val="1B293C"/>
          </a:solidFill>
          <a:ln cap="flat" cmpd="sng" w="9525">
            <a:solidFill>
              <a:srgbClr val="1B293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5"/>
          <p:cNvSpPr txBox="1"/>
          <p:nvPr/>
        </p:nvSpPr>
        <p:spPr>
          <a:xfrm>
            <a:off x="932688" y="5104939"/>
            <a:ext cx="46725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2BBEAE"/>
                </a:solidFill>
                <a:latin typeface="Arial"/>
                <a:ea typeface="Arial"/>
                <a:cs typeface="Arial"/>
                <a:sym typeface="Arial"/>
              </a:rPr>
              <a:t>PAYMENTS</a:t>
            </a:r>
            <a:endParaRPr/>
          </a:p>
        </p:txBody>
      </p:sp>
      <p:sp>
        <p:nvSpPr>
          <p:cNvPr id="143" name="Google Shape;143;p15"/>
          <p:cNvSpPr txBox="1"/>
          <p:nvPr/>
        </p:nvSpPr>
        <p:spPr>
          <a:xfrm>
            <a:off x="932688" y="5491576"/>
            <a:ext cx="46725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Payment and transaction details</a:t>
            </a:r>
            <a:endParaRPr/>
          </a:p>
        </p:txBody>
      </p:sp>
      <p:sp>
        <p:nvSpPr>
          <p:cNvPr id="144" name="Google Shape;144;p15"/>
          <p:cNvSpPr txBox="1"/>
          <p:nvPr/>
        </p:nvSpPr>
        <p:spPr>
          <a:xfrm>
            <a:off x="594360" y="6334046"/>
            <a:ext cx="9875400" cy="1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>
                <a:solidFill>
                  <a:srgbClr val="B1BECF"/>
                </a:solidFill>
                <a:latin typeface="Arial"/>
                <a:ea typeface="Arial"/>
                <a:cs typeface="Arial"/>
                <a:sym typeface="Arial"/>
              </a:rPr>
              <a:t>UBER EATS OPERATIONAL &amp; CUSTOMER INTELLIGENCE SYSTEM  •  SYNTHETIC-DATA CAPSTONE</a:t>
            </a:r>
            <a:endParaRPr/>
          </a:p>
        </p:txBody>
      </p:sp>
      <p:sp>
        <p:nvSpPr>
          <p:cNvPr id="145" name="Google Shape;145;p15"/>
          <p:cNvSpPr txBox="1"/>
          <p:nvPr/>
        </p:nvSpPr>
        <p:spPr>
          <a:xfrm>
            <a:off x="11109960" y="6430820"/>
            <a:ext cx="4572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2BBEAE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927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6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2BBEAE"/>
                </a:solidFill>
                <a:latin typeface="Arial"/>
                <a:ea typeface="Arial"/>
                <a:cs typeface="Arial"/>
                <a:sym typeface="Arial"/>
              </a:rPr>
              <a:t>03 / METHOD</a:t>
            </a:r>
            <a:endParaRPr/>
          </a:p>
        </p:txBody>
      </p:sp>
      <p:sp>
        <p:nvSpPr>
          <p:cNvPr id="151" name="Google Shape;151;p16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One analytical workflow across four ML tasks</a:t>
            </a:r>
            <a:endParaRPr/>
          </a:p>
        </p:txBody>
      </p:sp>
      <p:sp>
        <p:nvSpPr>
          <p:cNvPr id="152" name="Google Shape;152;p16"/>
          <p:cNvSpPr txBox="1"/>
          <p:nvPr/>
        </p:nvSpPr>
        <p:spPr>
          <a:xfrm>
            <a:off x="621792" y="1353312"/>
            <a:ext cx="10881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B1BECF"/>
                </a:solidFill>
                <a:latin typeface="Arial"/>
                <a:ea typeface="Arial"/>
                <a:cs typeface="Arial"/>
                <a:sym typeface="Arial"/>
              </a:rPr>
              <a:t>Raw tables → cleaning → feature engineering → modeling → evaluation → business interpretation</a:t>
            </a:r>
            <a:endParaRPr/>
          </a:p>
        </p:txBody>
      </p:sp>
      <p:sp>
        <p:nvSpPr>
          <p:cNvPr id="153" name="Google Shape;153;p16"/>
          <p:cNvSpPr/>
          <p:nvPr/>
        </p:nvSpPr>
        <p:spPr>
          <a:xfrm>
            <a:off x="640080" y="2286000"/>
            <a:ext cx="2606040" cy="2286000"/>
          </a:xfrm>
          <a:prstGeom prst="roundRect">
            <a:avLst>
              <a:gd fmla="val 16667" name="adj"/>
            </a:avLst>
          </a:prstGeom>
          <a:solidFill>
            <a:srgbClr val="1B293C"/>
          </a:solidFill>
          <a:ln cap="flat" cmpd="sng" w="9525">
            <a:solidFill>
              <a:srgbClr val="1B293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6"/>
          <p:cNvSpPr txBox="1"/>
          <p:nvPr/>
        </p:nvSpPr>
        <p:spPr>
          <a:xfrm>
            <a:off x="841247" y="2450592"/>
            <a:ext cx="2203704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2BBEAE"/>
                </a:solidFill>
                <a:latin typeface="Arial"/>
                <a:ea typeface="Arial"/>
                <a:cs typeface="Arial"/>
                <a:sym typeface="Arial"/>
              </a:rPr>
              <a:t>01  /  SEGMENT</a:t>
            </a:r>
            <a:endParaRPr/>
          </a:p>
        </p:txBody>
      </p:sp>
      <p:sp>
        <p:nvSpPr>
          <p:cNvPr id="155" name="Google Shape;155;p16"/>
          <p:cNvSpPr txBox="1"/>
          <p:nvPr/>
        </p:nvSpPr>
        <p:spPr>
          <a:xfrm>
            <a:off x="841247" y="2880360"/>
            <a:ext cx="2203704" cy="157276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K-Means • DBSCAN • PCA</a:t>
            </a:r>
            <a:endParaRPr/>
          </a:p>
        </p:txBody>
      </p:sp>
      <p:sp>
        <p:nvSpPr>
          <p:cNvPr id="156" name="Google Shape;156;p16"/>
          <p:cNvSpPr txBox="1"/>
          <p:nvPr/>
        </p:nvSpPr>
        <p:spPr>
          <a:xfrm>
            <a:off x="3212320" y="3182112"/>
            <a:ext cx="2286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EBB75C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157" name="Google Shape;157;p16"/>
          <p:cNvSpPr/>
          <p:nvPr/>
        </p:nvSpPr>
        <p:spPr>
          <a:xfrm>
            <a:off x="3520439" y="2286000"/>
            <a:ext cx="2606040" cy="2286000"/>
          </a:xfrm>
          <a:prstGeom prst="roundRect">
            <a:avLst>
              <a:gd fmla="val 16667" name="adj"/>
            </a:avLst>
          </a:prstGeom>
          <a:solidFill>
            <a:srgbClr val="1B293C"/>
          </a:solidFill>
          <a:ln cap="flat" cmpd="sng" w="9525">
            <a:solidFill>
              <a:srgbClr val="1B293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6"/>
          <p:cNvSpPr txBox="1"/>
          <p:nvPr/>
        </p:nvSpPr>
        <p:spPr>
          <a:xfrm>
            <a:off x="3721607" y="2450592"/>
            <a:ext cx="2203704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EBB75C"/>
                </a:solidFill>
                <a:latin typeface="Arial"/>
                <a:ea typeface="Arial"/>
                <a:cs typeface="Arial"/>
                <a:sym typeface="Arial"/>
              </a:rPr>
              <a:t>02  /  UNDERSTAND</a:t>
            </a:r>
            <a:endParaRPr/>
          </a:p>
        </p:txBody>
      </p:sp>
      <p:sp>
        <p:nvSpPr>
          <p:cNvPr id="159" name="Google Shape;159;p16"/>
          <p:cNvSpPr txBox="1"/>
          <p:nvPr/>
        </p:nvSpPr>
        <p:spPr>
          <a:xfrm>
            <a:off x="3721607" y="2880360"/>
            <a:ext cx="2203704" cy="157276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Text preprocessing • TF-IDF • sentiment</a:t>
            </a:r>
            <a:endParaRPr/>
          </a:p>
        </p:txBody>
      </p:sp>
      <p:sp>
        <p:nvSpPr>
          <p:cNvPr id="160" name="Google Shape;160;p16"/>
          <p:cNvSpPr txBox="1"/>
          <p:nvPr/>
        </p:nvSpPr>
        <p:spPr>
          <a:xfrm>
            <a:off x="6085876" y="3182112"/>
            <a:ext cx="2286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EBB75C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161" name="Google Shape;161;p16"/>
          <p:cNvSpPr/>
          <p:nvPr/>
        </p:nvSpPr>
        <p:spPr>
          <a:xfrm>
            <a:off x="6400800" y="2286000"/>
            <a:ext cx="2606040" cy="2286000"/>
          </a:xfrm>
          <a:prstGeom prst="roundRect">
            <a:avLst>
              <a:gd fmla="val 16667" name="adj"/>
            </a:avLst>
          </a:prstGeom>
          <a:solidFill>
            <a:srgbClr val="1B293C"/>
          </a:solidFill>
          <a:ln cap="flat" cmpd="sng" w="9525">
            <a:solidFill>
              <a:srgbClr val="1B293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6"/>
          <p:cNvSpPr txBox="1"/>
          <p:nvPr/>
        </p:nvSpPr>
        <p:spPr>
          <a:xfrm>
            <a:off x="6601968" y="2450592"/>
            <a:ext cx="2203704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2BBEAE"/>
                </a:solidFill>
                <a:latin typeface="Arial"/>
                <a:ea typeface="Arial"/>
                <a:cs typeface="Arial"/>
                <a:sym typeface="Arial"/>
              </a:rPr>
              <a:t>03  /  PREDICT</a:t>
            </a:r>
            <a:endParaRPr/>
          </a:p>
        </p:txBody>
      </p:sp>
      <p:sp>
        <p:nvSpPr>
          <p:cNvPr id="163" name="Google Shape;163;p16"/>
          <p:cNvSpPr txBox="1"/>
          <p:nvPr/>
        </p:nvSpPr>
        <p:spPr>
          <a:xfrm>
            <a:off x="6601968" y="2880360"/>
            <a:ext cx="2203704" cy="157276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Delivery-time regression</a:t>
            </a:r>
            <a:endParaRPr/>
          </a:p>
        </p:txBody>
      </p:sp>
      <p:sp>
        <p:nvSpPr>
          <p:cNvPr id="164" name="Google Shape;164;p16"/>
          <p:cNvSpPr txBox="1"/>
          <p:nvPr/>
        </p:nvSpPr>
        <p:spPr>
          <a:xfrm>
            <a:off x="8941668" y="3182112"/>
            <a:ext cx="2286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EBB75C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165" name="Google Shape;165;p16"/>
          <p:cNvSpPr/>
          <p:nvPr/>
        </p:nvSpPr>
        <p:spPr>
          <a:xfrm>
            <a:off x="9281159" y="2286000"/>
            <a:ext cx="2606040" cy="2286000"/>
          </a:xfrm>
          <a:prstGeom prst="roundRect">
            <a:avLst>
              <a:gd fmla="val 16667" name="adj"/>
            </a:avLst>
          </a:prstGeom>
          <a:solidFill>
            <a:srgbClr val="1B293C"/>
          </a:solidFill>
          <a:ln cap="flat" cmpd="sng" w="9525">
            <a:solidFill>
              <a:srgbClr val="1B293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6"/>
          <p:cNvSpPr txBox="1"/>
          <p:nvPr/>
        </p:nvSpPr>
        <p:spPr>
          <a:xfrm>
            <a:off x="9482328" y="2450592"/>
            <a:ext cx="2203704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EBB75C"/>
                </a:solidFill>
                <a:latin typeface="Arial"/>
                <a:ea typeface="Arial"/>
                <a:cs typeface="Arial"/>
                <a:sym typeface="Arial"/>
              </a:rPr>
              <a:t>04  /  FORECAST</a:t>
            </a:r>
            <a:endParaRPr/>
          </a:p>
        </p:txBody>
      </p:sp>
      <p:sp>
        <p:nvSpPr>
          <p:cNvPr id="167" name="Google Shape;167;p16"/>
          <p:cNvSpPr txBox="1"/>
          <p:nvPr/>
        </p:nvSpPr>
        <p:spPr>
          <a:xfrm>
            <a:off x="9482328" y="2880360"/>
            <a:ext cx="2203704" cy="157276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Hourly series • ARIMA • Prophet option</a:t>
            </a:r>
            <a:endParaRPr/>
          </a:p>
        </p:txBody>
      </p:sp>
      <p:sp>
        <p:nvSpPr>
          <p:cNvPr id="168" name="Google Shape;168;p16"/>
          <p:cNvSpPr txBox="1"/>
          <p:nvPr/>
        </p:nvSpPr>
        <p:spPr>
          <a:xfrm>
            <a:off x="777240" y="5166360"/>
            <a:ext cx="10789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B1BECF"/>
                </a:solidFill>
                <a:latin typeface="Arial"/>
                <a:ea typeface="Arial"/>
                <a:cs typeface="Arial"/>
                <a:sym typeface="Arial"/>
              </a:rPr>
              <a:t>Evaluation is task-specific: silhouette score for clustering; classification metrics for sentiment; MAE/RMSE/R² for regression; MAE/RMSE/MAPE for forecasting.</a:t>
            </a:r>
            <a:endParaRPr/>
          </a:p>
        </p:txBody>
      </p:sp>
      <p:sp>
        <p:nvSpPr>
          <p:cNvPr id="169" name="Google Shape;169;p16"/>
          <p:cNvSpPr txBox="1"/>
          <p:nvPr/>
        </p:nvSpPr>
        <p:spPr>
          <a:xfrm>
            <a:off x="594360" y="6510528"/>
            <a:ext cx="98755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>
                <a:solidFill>
                  <a:srgbClr val="B1BECF"/>
                </a:solidFill>
                <a:latin typeface="Arial"/>
                <a:ea typeface="Arial"/>
                <a:cs typeface="Arial"/>
                <a:sym typeface="Arial"/>
              </a:rPr>
              <a:t>UBER EATS OPERATIONAL &amp; CUSTOMER INTELLIGENCE SYSTEM  •  SYNTHETIC-DATA CAPSTONE</a:t>
            </a:r>
            <a:endParaRPr/>
          </a:p>
        </p:txBody>
      </p:sp>
      <p:sp>
        <p:nvSpPr>
          <p:cNvPr id="170" name="Google Shape;170;p16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2BBEAE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927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7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2BBEAE"/>
                </a:solidFill>
                <a:latin typeface="Arial"/>
                <a:ea typeface="Arial"/>
                <a:cs typeface="Arial"/>
                <a:sym typeface="Arial"/>
              </a:rPr>
              <a:t>04 / DAY 2 • UNSUPERVISED LEARNING</a:t>
            </a:r>
            <a:endParaRPr/>
          </a:p>
        </p:txBody>
      </p:sp>
      <p:sp>
        <p:nvSpPr>
          <p:cNvPr id="176" name="Google Shape;176;p17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K-Means selected two interpretable groups in each population</a:t>
            </a:r>
            <a:endParaRPr/>
          </a:p>
        </p:txBody>
      </p:sp>
      <p:sp>
        <p:nvSpPr>
          <p:cNvPr id="177" name="Google Shape;177;p17"/>
          <p:cNvSpPr/>
          <p:nvPr/>
        </p:nvSpPr>
        <p:spPr>
          <a:xfrm>
            <a:off x="685800" y="1828800"/>
            <a:ext cx="5303520" cy="1051560"/>
          </a:xfrm>
          <a:prstGeom prst="roundRect">
            <a:avLst>
              <a:gd fmla="val 16667" name="adj"/>
            </a:avLst>
          </a:prstGeom>
          <a:solidFill>
            <a:srgbClr val="1B293C"/>
          </a:solidFill>
          <a:ln cap="flat" cmpd="sng" w="9525">
            <a:solidFill>
              <a:srgbClr val="1B293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7"/>
          <p:cNvSpPr txBox="1"/>
          <p:nvPr/>
        </p:nvSpPr>
        <p:spPr>
          <a:xfrm>
            <a:off x="886968" y="1993392"/>
            <a:ext cx="4901183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2BBEAE"/>
                </a:solidFill>
                <a:latin typeface="Arial"/>
                <a:ea typeface="Arial"/>
                <a:cs typeface="Arial"/>
                <a:sym typeface="Arial"/>
              </a:rPr>
              <a:t>CUSTOMER CLUSTERING</a:t>
            </a:r>
            <a:endParaRPr/>
          </a:p>
        </p:txBody>
      </p:sp>
      <p:sp>
        <p:nvSpPr>
          <p:cNvPr id="179" name="Google Shape;179;p17"/>
          <p:cNvSpPr txBox="1"/>
          <p:nvPr/>
        </p:nvSpPr>
        <p:spPr>
          <a:xfrm>
            <a:off x="886968" y="2423160"/>
            <a:ext cx="4901183" cy="338327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Best silhouette: k = 2  |  Score = 0.2833</a:t>
            </a:r>
            <a:endParaRPr/>
          </a:p>
        </p:txBody>
      </p:sp>
      <p:sp>
        <p:nvSpPr>
          <p:cNvPr id="180" name="Google Shape;180;p17"/>
          <p:cNvSpPr/>
          <p:nvPr/>
        </p:nvSpPr>
        <p:spPr>
          <a:xfrm>
            <a:off x="6217920" y="1828800"/>
            <a:ext cx="5303520" cy="1051560"/>
          </a:xfrm>
          <a:prstGeom prst="roundRect">
            <a:avLst>
              <a:gd fmla="val 16667" name="adj"/>
            </a:avLst>
          </a:prstGeom>
          <a:solidFill>
            <a:srgbClr val="1B293C"/>
          </a:solidFill>
          <a:ln cap="flat" cmpd="sng" w="9525">
            <a:solidFill>
              <a:srgbClr val="1B293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7"/>
          <p:cNvSpPr txBox="1"/>
          <p:nvPr/>
        </p:nvSpPr>
        <p:spPr>
          <a:xfrm>
            <a:off x="6419088" y="1993392"/>
            <a:ext cx="4901183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EBB75C"/>
                </a:solidFill>
                <a:latin typeface="Arial"/>
                <a:ea typeface="Arial"/>
                <a:cs typeface="Arial"/>
                <a:sym typeface="Arial"/>
              </a:rPr>
              <a:t>RESTAURANT CLUSTERING</a:t>
            </a:r>
            <a:endParaRPr/>
          </a:p>
        </p:txBody>
      </p:sp>
      <p:sp>
        <p:nvSpPr>
          <p:cNvPr id="182" name="Google Shape;182;p17"/>
          <p:cNvSpPr txBox="1"/>
          <p:nvPr/>
        </p:nvSpPr>
        <p:spPr>
          <a:xfrm>
            <a:off x="6419088" y="2423160"/>
            <a:ext cx="4901183" cy="338327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Best silhouette: k = 2  |  Score = 0.2767</a:t>
            </a:r>
            <a:endParaRPr/>
          </a:p>
        </p:txBody>
      </p:sp>
      <p:sp>
        <p:nvSpPr>
          <p:cNvPr id="183" name="Google Shape;183;p17"/>
          <p:cNvSpPr/>
          <p:nvPr/>
        </p:nvSpPr>
        <p:spPr>
          <a:xfrm>
            <a:off x="685800" y="3154673"/>
            <a:ext cx="5303400" cy="2788800"/>
          </a:xfrm>
          <a:prstGeom prst="roundRect">
            <a:avLst>
              <a:gd fmla="val 16667" name="adj"/>
            </a:avLst>
          </a:prstGeom>
          <a:solidFill>
            <a:srgbClr val="1B293C"/>
          </a:solidFill>
          <a:ln cap="flat" cmpd="sng" w="9525">
            <a:solidFill>
              <a:srgbClr val="1B293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7"/>
          <p:cNvSpPr txBox="1"/>
          <p:nvPr/>
        </p:nvSpPr>
        <p:spPr>
          <a:xfrm>
            <a:off x="886968" y="3319272"/>
            <a:ext cx="4901183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2BBEAE"/>
                </a:solidFill>
                <a:latin typeface="Arial"/>
                <a:ea typeface="Arial"/>
                <a:cs typeface="Arial"/>
                <a:sym typeface="Arial"/>
              </a:rPr>
              <a:t>CUSTOMER SEGMENTS</a:t>
            </a:r>
            <a:endParaRPr/>
          </a:p>
        </p:txBody>
      </p:sp>
      <p:sp>
        <p:nvSpPr>
          <p:cNvPr id="185" name="Google Shape;185;p17"/>
          <p:cNvSpPr txBox="1"/>
          <p:nvPr/>
        </p:nvSpPr>
        <p:spPr>
          <a:xfrm>
            <a:off x="886975" y="3749055"/>
            <a:ext cx="4901100" cy="2096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Cluster 0 — 487 customers</a:t>
            </a:r>
            <a:br>
              <a:rPr b="0" lang="en-US" sz="13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US" sz="13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• 11.83 average orders</a:t>
            </a:r>
            <a:br>
              <a:rPr b="0" lang="en-US" sz="13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US" sz="13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• 644.24 average order value</a:t>
            </a:r>
            <a:br>
              <a:rPr b="0" lang="en-US" sz="13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US" sz="13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• 7,574.04 average total spend</a:t>
            </a:r>
            <a:br>
              <a:rPr b="0" lang="en-US" sz="13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lang="en-US" sz="13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US" sz="13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Cluster 1 — 513 customers</a:t>
            </a:r>
            <a:br>
              <a:rPr b="0" lang="en-US" sz="13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US" sz="13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• 7.01 average orders</a:t>
            </a:r>
            <a:br>
              <a:rPr b="0" lang="en-US" sz="13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US" sz="13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• 621.17 average order value</a:t>
            </a:r>
            <a:br>
              <a:rPr b="0" lang="en-US" sz="13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US" sz="13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• 4,335.50 average total spend</a:t>
            </a:r>
            <a:endParaRPr/>
          </a:p>
        </p:txBody>
      </p:sp>
      <p:sp>
        <p:nvSpPr>
          <p:cNvPr id="186" name="Google Shape;186;p17"/>
          <p:cNvSpPr/>
          <p:nvPr/>
        </p:nvSpPr>
        <p:spPr>
          <a:xfrm>
            <a:off x="6217925" y="3154673"/>
            <a:ext cx="5303400" cy="2788800"/>
          </a:xfrm>
          <a:prstGeom prst="roundRect">
            <a:avLst>
              <a:gd fmla="val 16667" name="adj"/>
            </a:avLst>
          </a:prstGeom>
          <a:solidFill>
            <a:srgbClr val="1B293C"/>
          </a:solidFill>
          <a:ln cap="flat" cmpd="sng" w="9525">
            <a:solidFill>
              <a:srgbClr val="1B293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7"/>
          <p:cNvSpPr txBox="1"/>
          <p:nvPr/>
        </p:nvSpPr>
        <p:spPr>
          <a:xfrm>
            <a:off x="6419088" y="3319272"/>
            <a:ext cx="4901183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EBB75C"/>
                </a:solidFill>
                <a:latin typeface="Arial"/>
                <a:ea typeface="Arial"/>
                <a:cs typeface="Arial"/>
                <a:sym typeface="Arial"/>
              </a:rPr>
              <a:t>RESTAURANT SEGMENTS</a:t>
            </a:r>
            <a:endParaRPr/>
          </a:p>
        </p:txBody>
      </p:sp>
      <p:sp>
        <p:nvSpPr>
          <p:cNvPr id="188" name="Google Shape;188;p17"/>
          <p:cNvSpPr txBox="1"/>
          <p:nvPr/>
        </p:nvSpPr>
        <p:spPr>
          <a:xfrm>
            <a:off x="6419100" y="3749055"/>
            <a:ext cx="4901100" cy="2096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Cluster 0 — Faster preparation</a:t>
            </a:r>
            <a:br>
              <a:rPr b="0" lang="en-US" sz="13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US" sz="13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• 94.72 average orders</a:t>
            </a:r>
            <a:br>
              <a:rPr b="0" lang="en-US" sz="13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US" sz="13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• 4.07 average rating</a:t>
            </a:r>
            <a:br>
              <a:rPr b="0" lang="en-US" sz="13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US" sz="13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• 17.32 min average preparation</a:t>
            </a:r>
            <a:br>
              <a:rPr b="0" lang="en-US" sz="13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lang="en-US" sz="13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US" sz="13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Cluster 1 — Higher volume</a:t>
            </a:r>
            <a:br>
              <a:rPr b="0" lang="en-US" sz="13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US" sz="13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• 105.28 average orders</a:t>
            </a:r>
            <a:br>
              <a:rPr b="0" lang="en-US" sz="13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US" sz="13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• 4.16 average rating</a:t>
            </a:r>
            <a:br>
              <a:rPr b="0" lang="en-US" sz="13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US" sz="13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• 31.30 min average preparation</a:t>
            </a:r>
            <a:endParaRPr/>
          </a:p>
        </p:txBody>
      </p:sp>
      <p:sp>
        <p:nvSpPr>
          <p:cNvPr id="189" name="Google Shape;189;p17"/>
          <p:cNvSpPr txBox="1"/>
          <p:nvPr/>
        </p:nvSpPr>
        <p:spPr>
          <a:xfrm>
            <a:off x="594360" y="6510528"/>
            <a:ext cx="98755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>
                <a:solidFill>
                  <a:srgbClr val="B1BECF"/>
                </a:solidFill>
                <a:latin typeface="Arial"/>
                <a:ea typeface="Arial"/>
                <a:cs typeface="Arial"/>
                <a:sym typeface="Arial"/>
              </a:rPr>
              <a:t>UBER EATS OPERATIONAL &amp; CUSTOMER INTELLIGENCE SYSTEM  •  SYNTHETIC-DATA CAPSTONE</a:t>
            </a:r>
            <a:endParaRPr/>
          </a:p>
        </p:txBody>
      </p:sp>
      <p:sp>
        <p:nvSpPr>
          <p:cNvPr id="190" name="Google Shape;190;p17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2BBEAE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927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8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2BBEAE"/>
                </a:solidFill>
                <a:latin typeface="Arial"/>
                <a:ea typeface="Arial"/>
                <a:cs typeface="Arial"/>
                <a:sym typeface="Arial"/>
              </a:rPr>
              <a:t>04 / DAY 2 • ALGORITHM COMPARISON</a:t>
            </a:r>
            <a:endParaRPr/>
          </a:p>
        </p:txBody>
      </p:sp>
      <p:sp>
        <p:nvSpPr>
          <p:cNvPr id="196" name="Google Shape;196;p18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DBSCAN was sensitive to parameter choice</a:t>
            </a:r>
            <a:endParaRPr/>
          </a:p>
        </p:txBody>
      </p:sp>
      <p:sp>
        <p:nvSpPr>
          <p:cNvPr id="197" name="Google Shape;197;p18"/>
          <p:cNvSpPr txBox="1"/>
          <p:nvPr/>
        </p:nvSpPr>
        <p:spPr>
          <a:xfrm>
            <a:off x="621792" y="1353312"/>
            <a:ext cx="10881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B1BECF"/>
                </a:solidFill>
                <a:latin typeface="Arial"/>
                <a:ea typeface="Arial"/>
                <a:cs typeface="Arial"/>
                <a:sym typeface="Arial"/>
              </a:rPr>
              <a:t>K-Means was retained as the primary segmentation approach because it produced clearer, more balanced profiles.</a:t>
            </a:r>
            <a:endParaRPr/>
          </a:p>
        </p:txBody>
      </p:sp>
      <p:sp>
        <p:nvSpPr>
          <p:cNvPr id="198" name="Google Shape;198;p18"/>
          <p:cNvSpPr/>
          <p:nvPr/>
        </p:nvSpPr>
        <p:spPr>
          <a:xfrm>
            <a:off x="731520" y="1920240"/>
            <a:ext cx="5166360" cy="2011680"/>
          </a:xfrm>
          <a:prstGeom prst="roundRect">
            <a:avLst>
              <a:gd fmla="val 16667" name="adj"/>
            </a:avLst>
          </a:prstGeom>
          <a:solidFill>
            <a:srgbClr val="1B293C"/>
          </a:solidFill>
          <a:ln cap="flat" cmpd="sng" w="9525">
            <a:solidFill>
              <a:srgbClr val="1B293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8"/>
          <p:cNvSpPr txBox="1"/>
          <p:nvPr/>
        </p:nvSpPr>
        <p:spPr>
          <a:xfrm>
            <a:off x="932688" y="2084832"/>
            <a:ext cx="4764024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2BBEAE"/>
                </a:solidFill>
                <a:latin typeface="Arial"/>
                <a:ea typeface="Arial"/>
                <a:cs typeface="Arial"/>
                <a:sym typeface="Arial"/>
              </a:rPr>
              <a:t>CUSTOMER DBSCAN</a:t>
            </a:r>
            <a:endParaRPr/>
          </a:p>
        </p:txBody>
      </p:sp>
      <p:sp>
        <p:nvSpPr>
          <p:cNvPr id="200" name="Google Shape;200;p18"/>
          <p:cNvSpPr txBox="1"/>
          <p:nvPr/>
        </p:nvSpPr>
        <p:spPr>
          <a:xfrm>
            <a:off x="932688" y="2514600"/>
            <a:ext cx="4764000" cy="12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eps = 0.75 → 6 clusters, 90.8% noise</a:t>
            </a:r>
            <a:br>
              <a:rPr b="0" lang="en-US" sz="16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US" sz="16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Silhouette (non-noise): 0.211</a:t>
            </a:r>
            <a:br>
              <a:rPr b="0" lang="en-US" sz="16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lang="en-US" sz="16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US" sz="16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At eps = 1.0, DBSCAN found 1 cluster with 37.1% noise.</a:t>
            </a:r>
            <a:endParaRPr sz="1500"/>
          </a:p>
        </p:txBody>
      </p:sp>
      <p:sp>
        <p:nvSpPr>
          <p:cNvPr id="201" name="Google Shape;201;p18"/>
          <p:cNvSpPr/>
          <p:nvPr/>
        </p:nvSpPr>
        <p:spPr>
          <a:xfrm>
            <a:off x="6263640" y="1920240"/>
            <a:ext cx="5166360" cy="2011680"/>
          </a:xfrm>
          <a:prstGeom prst="roundRect">
            <a:avLst>
              <a:gd fmla="val 16667" name="adj"/>
            </a:avLst>
          </a:prstGeom>
          <a:solidFill>
            <a:srgbClr val="1B293C"/>
          </a:solidFill>
          <a:ln cap="flat" cmpd="sng" w="9525">
            <a:solidFill>
              <a:srgbClr val="1B293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8"/>
          <p:cNvSpPr txBox="1"/>
          <p:nvPr/>
        </p:nvSpPr>
        <p:spPr>
          <a:xfrm>
            <a:off x="6464807" y="2084832"/>
            <a:ext cx="4764024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EBB75C"/>
                </a:solidFill>
                <a:latin typeface="Arial"/>
                <a:ea typeface="Arial"/>
                <a:cs typeface="Arial"/>
                <a:sym typeface="Arial"/>
              </a:rPr>
              <a:t>RESTAURANT DBSCAN</a:t>
            </a:r>
            <a:endParaRPr/>
          </a:p>
        </p:txBody>
      </p:sp>
      <p:sp>
        <p:nvSpPr>
          <p:cNvPr id="203" name="Google Shape;203;p18"/>
          <p:cNvSpPr txBox="1"/>
          <p:nvPr/>
        </p:nvSpPr>
        <p:spPr>
          <a:xfrm>
            <a:off x="6464807" y="2514600"/>
            <a:ext cx="4764000" cy="12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eps = 1.0 → 2 clusters, 88% noise</a:t>
            </a:r>
            <a:br>
              <a:rPr b="0" lang="en-US" sz="16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US" sz="16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Silhouette (non-noise): 0.5114</a:t>
            </a:r>
            <a:br>
              <a:rPr b="0" lang="en-US" sz="16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lang="en-US" sz="16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US" sz="16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eps = 1.25 → 3 clusters, 45% noise; silhouette 0.3826.</a:t>
            </a:r>
            <a:endParaRPr sz="1500"/>
          </a:p>
        </p:txBody>
      </p:sp>
      <p:sp>
        <p:nvSpPr>
          <p:cNvPr id="204" name="Google Shape;204;p18"/>
          <p:cNvSpPr txBox="1"/>
          <p:nvPr/>
        </p:nvSpPr>
        <p:spPr>
          <a:xfrm>
            <a:off x="822960" y="4434840"/>
            <a:ext cx="106984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Interpretation: DBSCAN can identify dense pockets and outliers, but the high noise rates at useful cluster counts make it less stable for this feature space.</a:t>
            </a:r>
            <a:endParaRPr/>
          </a:p>
        </p:txBody>
      </p:sp>
      <p:sp>
        <p:nvSpPr>
          <p:cNvPr id="205" name="Google Shape;205;p18"/>
          <p:cNvSpPr txBox="1"/>
          <p:nvPr/>
        </p:nvSpPr>
        <p:spPr>
          <a:xfrm>
            <a:off x="594360" y="6510528"/>
            <a:ext cx="98755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>
                <a:solidFill>
                  <a:srgbClr val="B1BECF"/>
                </a:solidFill>
                <a:latin typeface="Arial"/>
                <a:ea typeface="Arial"/>
                <a:cs typeface="Arial"/>
                <a:sym typeface="Arial"/>
              </a:rPr>
              <a:t>UBER EATS OPERATIONAL &amp; CUSTOMER INTELLIGENCE SYSTEM  •  SYNTHETIC-DATA CAPSTONE</a:t>
            </a:r>
            <a:endParaRPr/>
          </a:p>
        </p:txBody>
      </p:sp>
      <p:sp>
        <p:nvSpPr>
          <p:cNvPr id="206" name="Google Shape;206;p18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2BBEAE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927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9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2BBEAE"/>
                </a:solidFill>
                <a:latin typeface="Arial"/>
                <a:ea typeface="Arial"/>
                <a:cs typeface="Arial"/>
                <a:sym typeface="Arial"/>
              </a:rPr>
              <a:t>05 / DAY 3 • NLP</a:t>
            </a:r>
            <a:endParaRPr/>
          </a:p>
        </p:txBody>
      </p:sp>
      <p:sp>
        <p:nvSpPr>
          <p:cNvPr id="212" name="Google Shape;212;p19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Naive Bayes matched the rating-derived labels; VADER was less aligned</a:t>
            </a:r>
            <a:endParaRPr/>
          </a:p>
        </p:txBody>
      </p:sp>
      <p:sp>
        <p:nvSpPr>
          <p:cNvPr id="213" name="Google Shape;213;p19"/>
          <p:cNvSpPr txBox="1"/>
          <p:nvPr/>
        </p:nvSpPr>
        <p:spPr>
          <a:xfrm>
            <a:off x="621792" y="1486662"/>
            <a:ext cx="108813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B1BECF"/>
                </a:solidFill>
                <a:latin typeface="Arial"/>
                <a:ea typeface="Arial"/>
                <a:cs typeface="Arial"/>
                <a:sym typeface="Arial"/>
              </a:rPr>
              <a:t>7,000 reviews were cleaned and analyzed using TF-IDF, Multinomial Naive Bayes and VADER.</a:t>
            </a:r>
            <a:endParaRPr/>
          </a:p>
        </p:txBody>
      </p:sp>
      <p:sp>
        <p:nvSpPr>
          <p:cNvPr id="214" name="Google Shape;214;p19"/>
          <p:cNvSpPr/>
          <p:nvPr/>
        </p:nvSpPr>
        <p:spPr>
          <a:xfrm>
            <a:off x="731520" y="1874519"/>
            <a:ext cx="3474720" cy="2743200"/>
          </a:xfrm>
          <a:prstGeom prst="roundRect">
            <a:avLst>
              <a:gd fmla="val 16667" name="adj"/>
            </a:avLst>
          </a:prstGeom>
          <a:solidFill>
            <a:srgbClr val="1B293C"/>
          </a:solidFill>
          <a:ln cap="flat" cmpd="sng" w="9525">
            <a:solidFill>
              <a:srgbClr val="1B293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9"/>
          <p:cNvSpPr txBox="1"/>
          <p:nvPr/>
        </p:nvSpPr>
        <p:spPr>
          <a:xfrm>
            <a:off x="932688" y="2039112"/>
            <a:ext cx="3072384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2BBEAE"/>
                </a:solidFill>
                <a:latin typeface="Arial"/>
                <a:ea typeface="Arial"/>
                <a:cs typeface="Arial"/>
                <a:sym typeface="Arial"/>
              </a:rPr>
              <a:t>TEXT PIPELINE</a:t>
            </a:r>
            <a:endParaRPr/>
          </a:p>
        </p:txBody>
      </p:sp>
      <p:sp>
        <p:nvSpPr>
          <p:cNvPr id="216" name="Google Shape;216;p19"/>
          <p:cNvSpPr txBox="1"/>
          <p:nvPr/>
        </p:nvSpPr>
        <p:spPr>
          <a:xfrm>
            <a:off x="932688" y="2468879"/>
            <a:ext cx="3072300" cy="16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7,000 usable reviews</a:t>
            </a:r>
            <a:br>
              <a:rPr b="0" lang="en-US" sz="15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US" sz="15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2,373 negative (33.9%)</a:t>
            </a:r>
            <a:br>
              <a:rPr b="0" lang="en-US" sz="15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US" sz="15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2,353 positive (33.6%)</a:t>
            </a:r>
            <a:br>
              <a:rPr b="0" lang="en-US" sz="15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US" sz="15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2,274 neutral (32.5%)</a:t>
            </a:r>
            <a:br>
              <a:rPr b="0" lang="en-US" sz="15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US" sz="15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Lemmatization unavailable in this run</a:t>
            </a:r>
            <a:endParaRPr sz="1500"/>
          </a:p>
        </p:txBody>
      </p:sp>
      <p:sp>
        <p:nvSpPr>
          <p:cNvPr id="217" name="Google Shape;217;p19"/>
          <p:cNvSpPr/>
          <p:nvPr/>
        </p:nvSpPr>
        <p:spPr>
          <a:xfrm>
            <a:off x="4389120" y="1874519"/>
            <a:ext cx="3474720" cy="2743200"/>
          </a:xfrm>
          <a:prstGeom prst="roundRect">
            <a:avLst>
              <a:gd fmla="val 16667" name="adj"/>
            </a:avLst>
          </a:prstGeom>
          <a:solidFill>
            <a:srgbClr val="1B293C"/>
          </a:solidFill>
          <a:ln cap="flat" cmpd="sng" w="9525">
            <a:solidFill>
              <a:srgbClr val="1B293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9"/>
          <p:cNvSpPr txBox="1"/>
          <p:nvPr/>
        </p:nvSpPr>
        <p:spPr>
          <a:xfrm>
            <a:off x="4590288" y="2039112"/>
            <a:ext cx="3072384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EBB75C"/>
                </a:solidFill>
                <a:latin typeface="Arial"/>
                <a:ea typeface="Arial"/>
                <a:cs typeface="Arial"/>
                <a:sym typeface="Arial"/>
              </a:rPr>
              <a:t>FEATURES &amp; MODEL</a:t>
            </a:r>
            <a:endParaRPr/>
          </a:p>
        </p:txBody>
      </p:sp>
      <p:sp>
        <p:nvSpPr>
          <p:cNvPr id="219" name="Google Shape;219;p19"/>
          <p:cNvSpPr txBox="1"/>
          <p:nvPr/>
        </p:nvSpPr>
        <p:spPr>
          <a:xfrm>
            <a:off x="4590288" y="2468879"/>
            <a:ext cx="3072300" cy="13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TF-IDF unigrams + bigrams</a:t>
            </a:r>
            <a:br>
              <a:rPr b="0" lang="en-US" sz="15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US" sz="15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Naive Bayes: accuracy 1.000</a:t>
            </a:r>
            <a:br>
              <a:rPr b="0" lang="en-US" sz="15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US" sz="15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Macro precision / recall / F1: 1.000</a:t>
            </a:r>
            <a:br>
              <a:rPr b="0" lang="en-US" sz="15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US" sz="15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VADER accuracy: 0.5669</a:t>
            </a:r>
            <a:br>
              <a:rPr b="0" lang="en-US" sz="15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US" sz="15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VADER macro F1: 0.4784</a:t>
            </a:r>
            <a:endParaRPr sz="1500"/>
          </a:p>
        </p:txBody>
      </p:sp>
      <p:sp>
        <p:nvSpPr>
          <p:cNvPr id="220" name="Google Shape;220;p19"/>
          <p:cNvSpPr/>
          <p:nvPr/>
        </p:nvSpPr>
        <p:spPr>
          <a:xfrm>
            <a:off x="8046720" y="1874519"/>
            <a:ext cx="3474720" cy="2743200"/>
          </a:xfrm>
          <a:prstGeom prst="roundRect">
            <a:avLst>
              <a:gd fmla="val 16667" name="adj"/>
            </a:avLst>
          </a:prstGeom>
          <a:solidFill>
            <a:srgbClr val="1B293C"/>
          </a:solidFill>
          <a:ln cap="flat" cmpd="sng" w="9525">
            <a:solidFill>
              <a:srgbClr val="1B293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9"/>
          <p:cNvSpPr txBox="1"/>
          <p:nvPr/>
        </p:nvSpPr>
        <p:spPr>
          <a:xfrm>
            <a:off x="8247888" y="2039112"/>
            <a:ext cx="3072384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2BBEAE"/>
                </a:solidFill>
                <a:latin typeface="Arial"/>
                <a:ea typeface="Arial"/>
                <a:cs typeface="Arial"/>
                <a:sym typeface="Arial"/>
              </a:rPr>
              <a:t>EVALUATION</a:t>
            </a:r>
            <a:endParaRPr/>
          </a:p>
        </p:txBody>
      </p:sp>
      <p:sp>
        <p:nvSpPr>
          <p:cNvPr id="222" name="Google Shape;222;p19"/>
          <p:cNvSpPr txBox="1"/>
          <p:nvPr/>
        </p:nvSpPr>
        <p:spPr>
          <a:xfrm>
            <a:off x="8247888" y="2468879"/>
            <a:ext cx="3072300" cy="17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Negative themes:</a:t>
            </a:r>
            <a:br>
              <a:rPr b="0" lang="en-US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US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Late delivery / late arrival</a:t>
            </a:r>
            <a:br>
              <a:rPr b="0" lang="en-US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US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Cold food</a:t>
            </a:r>
            <a:br>
              <a:rPr b="0" lang="en-US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US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Missing items</a:t>
            </a:r>
            <a:br>
              <a:rPr b="0" lang="en-US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US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Damaged packaging</a:t>
            </a:r>
            <a:br>
              <a:rPr b="0" lang="en-US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US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Positive themes: great experience, delicious food, quick delivery</a:t>
            </a:r>
            <a:endParaRPr sz="1500"/>
          </a:p>
        </p:txBody>
      </p:sp>
      <p:sp>
        <p:nvSpPr>
          <p:cNvPr id="223" name="Google Shape;223;p19"/>
          <p:cNvSpPr txBox="1"/>
          <p:nvPr/>
        </p:nvSpPr>
        <p:spPr>
          <a:xfrm>
            <a:off x="822960" y="5074920"/>
            <a:ext cx="10607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DD7070"/>
                </a:solidFill>
                <a:latin typeface="Arial"/>
                <a:ea typeface="Arial"/>
                <a:cs typeface="Arial"/>
                <a:sym typeface="Arial"/>
              </a:rPr>
              <a:t>Important caveat: sentiment labels were derived from review ratings, not human annotation. The perfect Naive Bayes score reflects agreement with these proxy labels and should not be treated as proof of real-world sentiment accuracy. VADER macro F1 was 0.4784.</a:t>
            </a:r>
            <a:endParaRPr/>
          </a:p>
        </p:txBody>
      </p:sp>
      <p:sp>
        <p:nvSpPr>
          <p:cNvPr id="224" name="Google Shape;224;p19"/>
          <p:cNvSpPr txBox="1"/>
          <p:nvPr/>
        </p:nvSpPr>
        <p:spPr>
          <a:xfrm>
            <a:off x="594360" y="6510528"/>
            <a:ext cx="98755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>
                <a:solidFill>
                  <a:srgbClr val="B1BECF"/>
                </a:solidFill>
                <a:latin typeface="Arial"/>
                <a:ea typeface="Arial"/>
                <a:cs typeface="Arial"/>
                <a:sym typeface="Arial"/>
              </a:rPr>
              <a:t>UBER EATS OPERATIONAL &amp; CUSTOMER INTELLIGENCE SYSTEM  •  SYNTHETIC-DATA CAPSTONE</a:t>
            </a:r>
            <a:endParaRPr/>
          </a:p>
        </p:txBody>
      </p:sp>
      <p:sp>
        <p:nvSpPr>
          <p:cNvPr id="225" name="Google Shape;225;p19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2BBEAE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927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0"/>
          <p:cNvSpPr txBox="1"/>
          <p:nvPr/>
        </p:nvSpPr>
        <p:spPr>
          <a:xfrm>
            <a:off x="594360" y="320040"/>
            <a:ext cx="109728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2BBEAE"/>
                </a:solidFill>
                <a:latin typeface="Arial"/>
                <a:ea typeface="Arial"/>
                <a:cs typeface="Arial"/>
                <a:sym typeface="Arial"/>
              </a:rPr>
              <a:t>06 / DAY 4 • SUPERVISED LEARNING</a:t>
            </a:r>
            <a:endParaRPr/>
          </a:p>
        </p:txBody>
      </p:sp>
      <p:sp>
        <p:nvSpPr>
          <p:cNvPr id="231" name="Google Shape;231;p20"/>
          <p:cNvSpPr txBox="1"/>
          <p:nvPr/>
        </p:nvSpPr>
        <p:spPr>
          <a:xfrm>
            <a:off x="594360" y="713232"/>
            <a:ext cx="109728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Lasso Regression predicted delivery duration with a 4.02-minute test MAE</a:t>
            </a:r>
            <a:endParaRPr/>
          </a:p>
        </p:txBody>
      </p:sp>
      <p:sp>
        <p:nvSpPr>
          <p:cNvPr id="232" name="Google Shape;232;p20"/>
          <p:cNvSpPr txBox="1"/>
          <p:nvPr/>
        </p:nvSpPr>
        <p:spPr>
          <a:xfrm>
            <a:off x="621792" y="1353312"/>
            <a:ext cx="10881300" cy="2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B1BECF"/>
                </a:solidFill>
                <a:latin typeface="Arial"/>
                <a:ea typeface="Arial"/>
                <a:cs typeface="Arial"/>
                <a:sym typeface="Arial"/>
              </a:rPr>
              <a:t>The joined modeling table contained 9,358 deliveries; 7,486 rows were used for training and 1,872 for testing.</a:t>
            </a:r>
            <a:endParaRPr/>
          </a:p>
        </p:txBody>
      </p:sp>
      <p:sp>
        <p:nvSpPr>
          <p:cNvPr id="233" name="Google Shape;233;p20"/>
          <p:cNvSpPr/>
          <p:nvPr/>
        </p:nvSpPr>
        <p:spPr>
          <a:xfrm>
            <a:off x="731520" y="1828800"/>
            <a:ext cx="3474720" cy="2743200"/>
          </a:xfrm>
          <a:prstGeom prst="roundRect">
            <a:avLst>
              <a:gd fmla="val 16667" name="adj"/>
            </a:avLst>
          </a:prstGeom>
          <a:solidFill>
            <a:srgbClr val="1B293C"/>
          </a:solidFill>
          <a:ln cap="flat" cmpd="sng" w="9525">
            <a:solidFill>
              <a:srgbClr val="1B293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0"/>
          <p:cNvSpPr txBox="1"/>
          <p:nvPr/>
        </p:nvSpPr>
        <p:spPr>
          <a:xfrm>
            <a:off x="932688" y="1993392"/>
            <a:ext cx="30723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2BBEAE"/>
                </a:solidFill>
                <a:latin typeface="Arial"/>
                <a:ea typeface="Arial"/>
                <a:cs typeface="Arial"/>
                <a:sym typeface="Arial"/>
              </a:rPr>
              <a:t>TARGET</a:t>
            </a:r>
            <a:endParaRPr/>
          </a:p>
        </p:txBody>
      </p:sp>
      <p:sp>
        <p:nvSpPr>
          <p:cNvPr id="235" name="Google Shape;235;p20"/>
          <p:cNvSpPr txBox="1"/>
          <p:nvPr/>
        </p:nvSpPr>
        <p:spPr>
          <a:xfrm>
            <a:off x="932688" y="2423160"/>
            <a:ext cx="3072300" cy="15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TARGET</a:t>
            </a:r>
            <a:br>
              <a:rPr b="0" lang="en-US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US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Delivery time (minutes)</a:t>
            </a:r>
            <a:br>
              <a:rPr b="0" lang="en-US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lang="en-US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US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Test-set performance:</a:t>
            </a:r>
            <a:br>
              <a:rPr b="0" lang="en-US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US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MAE: 4.0245 min</a:t>
            </a:r>
            <a:br>
              <a:rPr b="0" lang="en-US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US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RMSE: 5.0325 min</a:t>
            </a:r>
            <a:br>
              <a:rPr b="0" lang="en-US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US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R²: 0.9090</a:t>
            </a:r>
            <a:endParaRPr/>
          </a:p>
        </p:txBody>
      </p:sp>
      <p:sp>
        <p:nvSpPr>
          <p:cNvPr id="236" name="Google Shape;236;p20"/>
          <p:cNvSpPr/>
          <p:nvPr/>
        </p:nvSpPr>
        <p:spPr>
          <a:xfrm>
            <a:off x="4389120" y="1828800"/>
            <a:ext cx="3474720" cy="2743200"/>
          </a:xfrm>
          <a:prstGeom prst="roundRect">
            <a:avLst>
              <a:gd fmla="val 16667" name="adj"/>
            </a:avLst>
          </a:prstGeom>
          <a:solidFill>
            <a:srgbClr val="1B293C"/>
          </a:solidFill>
          <a:ln cap="flat" cmpd="sng" w="9525">
            <a:solidFill>
              <a:srgbClr val="1B293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0"/>
          <p:cNvSpPr txBox="1"/>
          <p:nvPr/>
        </p:nvSpPr>
        <p:spPr>
          <a:xfrm>
            <a:off x="4590288" y="1993392"/>
            <a:ext cx="30723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EBB75C"/>
                </a:solidFill>
                <a:latin typeface="Arial"/>
                <a:ea typeface="Arial"/>
                <a:cs typeface="Arial"/>
                <a:sym typeface="Arial"/>
              </a:rPr>
              <a:t>MODELS</a:t>
            </a:r>
            <a:endParaRPr/>
          </a:p>
        </p:txBody>
      </p:sp>
      <p:sp>
        <p:nvSpPr>
          <p:cNvPr id="238" name="Google Shape;238;p20"/>
          <p:cNvSpPr txBox="1"/>
          <p:nvPr/>
        </p:nvSpPr>
        <p:spPr>
          <a:xfrm>
            <a:off x="4590288" y="2423160"/>
            <a:ext cx="3072300" cy="14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Lasso Regression — best test MAE</a:t>
            </a:r>
            <a:br>
              <a:rPr b="0" lang="en-US" sz="13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US" sz="13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Ridge Regression</a:t>
            </a:r>
            <a:br>
              <a:rPr b="0" lang="en-US" sz="13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US" sz="13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Random Forest</a:t>
            </a:r>
            <a:br>
              <a:rPr b="0" lang="en-US" sz="13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US" sz="13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Linear Regression</a:t>
            </a:r>
            <a:br>
              <a:rPr b="0" lang="en-US" sz="13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US" sz="13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Dummy Baseline</a:t>
            </a:r>
            <a:br>
              <a:rPr b="0" lang="en-US" sz="13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lang="en-US" sz="13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US" sz="13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Lasso 5-fold CV MAE: 4.0112 ± 0.0955</a:t>
            </a:r>
            <a:endParaRPr/>
          </a:p>
        </p:txBody>
      </p:sp>
      <p:sp>
        <p:nvSpPr>
          <p:cNvPr id="239" name="Google Shape;239;p20"/>
          <p:cNvSpPr/>
          <p:nvPr/>
        </p:nvSpPr>
        <p:spPr>
          <a:xfrm>
            <a:off x="8046720" y="1828800"/>
            <a:ext cx="3474720" cy="2743200"/>
          </a:xfrm>
          <a:prstGeom prst="roundRect">
            <a:avLst>
              <a:gd fmla="val 16667" name="adj"/>
            </a:avLst>
          </a:prstGeom>
          <a:solidFill>
            <a:srgbClr val="1B293C"/>
          </a:solidFill>
          <a:ln cap="flat" cmpd="sng" w="9525">
            <a:solidFill>
              <a:srgbClr val="1B293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0"/>
          <p:cNvSpPr txBox="1"/>
          <p:nvPr/>
        </p:nvSpPr>
        <p:spPr>
          <a:xfrm>
            <a:off x="8247888" y="1993392"/>
            <a:ext cx="30723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2BBEAE"/>
                </a:solidFill>
                <a:latin typeface="Arial"/>
                <a:ea typeface="Arial"/>
                <a:cs typeface="Arial"/>
                <a:sym typeface="Arial"/>
              </a:rPr>
              <a:t>EVALUATION</a:t>
            </a:r>
            <a:endParaRPr/>
          </a:p>
        </p:txBody>
      </p:sp>
      <p:sp>
        <p:nvSpPr>
          <p:cNvPr id="241" name="Google Shape;241;p20"/>
          <p:cNvSpPr txBox="1"/>
          <p:nvPr/>
        </p:nvSpPr>
        <p:spPr>
          <a:xfrm>
            <a:off x="8247888" y="2423160"/>
            <a:ext cx="3072300" cy="14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Permutation importance leaders:</a:t>
            </a:r>
            <a:br>
              <a:rPr b="0" lang="en-US" sz="13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US" sz="13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Distance: 8.7229</a:t>
            </a:r>
            <a:br>
              <a:rPr b="0" lang="en-US" sz="13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US" sz="13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Preparation time: 6.6666</a:t>
            </a:r>
            <a:br>
              <a:rPr b="0" lang="en-US" sz="13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US" sz="13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Traffic: 3.3854</a:t>
            </a:r>
            <a:br>
              <a:rPr b="0" lang="en-US" sz="13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US" sz="13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Weather: 1.9718</a:t>
            </a:r>
            <a:br>
              <a:rPr b="0" lang="en-US" sz="13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lang="en-US" sz="13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US" sz="13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Baseline MAE: 13.2046 min</a:t>
            </a:r>
            <a:endParaRPr/>
          </a:p>
        </p:txBody>
      </p:sp>
      <p:sp>
        <p:nvSpPr>
          <p:cNvPr id="242" name="Google Shape;242;p20"/>
          <p:cNvSpPr txBox="1"/>
          <p:nvPr/>
        </p:nvSpPr>
        <p:spPr>
          <a:xfrm>
            <a:off x="822960" y="5074920"/>
            <a:ext cx="106071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DD7070"/>
                </a:solidFill>
                <a:latin typeface="Arial"/>
                <a:ea typeface="Arial"/>
                <a:cs typeface="Arial"/>
                <a:sym typeface="Arial"/>
              </a:rPr>
              <a:t>Lasso outperformed the dummy baseline (MAE 4.02 vs 13.20 min). Cross-validation was consistent (MAE 4.011 ± 0.095). Feature importance is predictive association, not causation; validate feature availability and leakage controls before deployment.</a:t>
            </a:r>
            <a:endParaRPr/>
          </a:p>
        </p:txBody>
      </p:sp>
      <p:sp>
        <p:nvSpPr>
          <p:cNvPr id="243" name="Google Shape;243;p20"/>
          <p:cNvSpPr txBox="1"/>
          <p:nvPr/>
        </p:nvSpPr>
        <p:spPr>
          <a:xfrm>
            <a:off x="594360" y="6510528"/>
            <a:ext cx="9875400" cy="1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>
                <a:solidFill>
                  <a:srgbClr val="B1BECF"/>
                </a:solidFill>
                <a:latin typeface="Arial"/>
                <a:ea typeface="Arial"/>
                <a:cs typeface="Arial"/>
                <a:sym typeface="Arial"/>
              </a:rPr>
              <a:t>UBER EATS OPERATIONAL &amp; CUSTOMER INTELLIGENCE SYSTEM  •  SYNTHETIC-DATA CAPSTONE</a:t>
            </a:r>
            <a:endParaRPr/>
          </a:p>
        </p:txBody>
      </p:sp>
      <p:sp>
        <p:nvSpPr>
          <p:cNvPr id="244" name="Google Shape;244;p20"/>
          <p:cNvSpPr txBox="1"/>
          <p:nvPr/>
        </p:nvSpPr>
        <p:spPr>
          <a:xfrm>
            <a:off x="11109960" y="6473952"/>
            <a:ext cx="4572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2BBEAE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927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2BBEAE"/>
                </a:solidFill>
                <a:latin typeface="Arial"/>
                <a:ea typeface="Arial"/>
                <a:cs typeface="Arial"/>
                <a:sym typeface="Arial"/>
              </a:rPr>
              <a:t>07 / DAY 5 • TIME SERIES</a:t>
            </a:r>
            <a:endParaRPr/>
          </a:p>
        </p:txBody>
      </p:sp>
      <p:sp>
        <p:nvSpPr>
          <p:cNvPr id="250" name="Google Shape;250;p21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ARIMA outperformed the seasonal-naive hourly demand baseline</a:t>
            </a:r>
            <a:endParaRPr/>
          </a:p>
        </p:txBody>
      </p:sp>
      <p:sp>
        <p:nvSpPr>
          <p:cNvPr id="251" name="Google Shape;251;p21"/>
          <p:cNvSpPr txBox="1"/>
          <p:nvPr/>
        </p:nvSpPr>
        <p:spPr>
          <a:xfrm>
            <a:off x="621792" y="1353312"/>
            <a:ext cx="10881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B1BECF"/>
                </a:solidFill>
                <a:latin typeface="Arial"/>
                <a:ea typeface="Arial"/>
                <a:cs typeface="Arial"/>
                <a:sym typeface="Arial"/>
              </a:rPr>
              <a:t>Hourly series: 4,319 observations from 1 Jan to 29 Jun 2026, including 416 zero-order hours.</a:t>
            </a:r>
            <a:endParaRPr/>
          </a:p>
        </p:txBody>
      </p:sp>
      <p:sp>
        <p:nvSpPr>
          <p:cNvPr id="252" name="Google Shape;252;p21"/>
          <p:cNvSpPr/>
          <p:nvPr/>
        </p:nvSpPr>
        <p:spPr>
          <a:xfrm>
            <a:off x="731520" y="1828800"/>
            <a:ext cx="3474720" cy="2743200"/>
          </a:xfrm>
          <a:prstGeom prst="roundRect">
            <a:avLst>
              <a:gd fmla="val 16667" name="adj"/>
            </a:avLst>
          </a:prstGeom>
          <a:solidFill>
            <a:srgbClr val="1B293C"/>
          </a:solidFill>
          <a:ln cap="flat" cmpd="sng" w="9525">
            <a:solidFill>
              <a:srgbClr val="1B293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1"/>
          <p:cNvSpPr txBox="1"/>
          <p:nvPr/>
        </p:nvSpPr>
        <p:spPr>
          <a:xfrm>
            <a:off x="932688" y="1993392"/>
            <a:ext cx="3072384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2BBEAE"/>
                </a:solidFill>
                <a:latin typeface="Arial"/>
                <a:ea typeface="Arial"/>
                <a:cs typeface="Arial"/>
                <a:sym typeface="Arial"/>
              </a:rPr>
              <a:t>TIME SERIES</a:t>
            </a:r>
            <a:endParaRPr/>
          </a:p>
        </p:txBody>
      </p:sp>
      <p:sp>
        <p:nvSpPr>
          <p:cNvPr id="254" name="Google Shape;254;p21"/>
          <p:cNvSpPr txBox="1"/>
          <p:nvPr/>
        </p:nvSpPr>
        <p:spPr>
          <a:xfrm>
            <a:off x="932688" y="2423160"/>
            <a:ext cx="3072300" cy="16362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Average hourly demand: 2.315 orders</a:t>
            </a:r>
            <a:br>
              <a:rPr b="0" lang="en-US" sz="13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US" sz="13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Peak average-demand hour: 01:00 (2.561)</a:t>
            </a:r>
            <a:br>
              <a:rPr b="0" lang="en-US" sz="13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US" sz="13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Weekday mean: 2.342</a:t>
            </a:r>
            <a:br>
              <a:rPr b="0" lang="en-US" sz="13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US" sz="13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Weekend mean: 2.251</a:t>
            </a:r>
            <a:br>
              <a:rPr b="0" lang="en-US" sz="13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US" sz="13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Monday had the highest daily mean: 2.402</a:t>
            </a:r>
            <a:endParaRPr/>
          </a:p>
        </p:txBody>
      </p:sp>
      <p:sp>
        <p:nvSpPr>
          <p:cNvPr id="255" name="Google Shape;255;p21"/>
          <p:cNvSpPr/>
          <p:nvPr/>
        </p:nvSpPr>
        <p:spPr>
          <a:xfrm>
            <a:off x="4389120" y="1828800"/>
            <a:ext cx="3474720" cy="2743200"/>
          </a:xfrm>
          <a:prstGeom prst="roundRect">
            <a:avLst>
              <a:gd fmla="val 16667" name="adj"/>
            </a:avLst>
          </a:prstGeom>
          <a:solidFill>
            <a:srgbClr val="1B293C"/>
          </a:solidFill>
          <a:ln cap="flat" cmpd="sng" w="9525">
            <a:solidFill>
              <a:srgbClr val="1B293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1"/>
          <p:cNvSpPr txBox="1"/>
          <p:nvPr/>
        </p:nvSpPr>
        <p:spPr>
          <a:xfrm>
            <a:off x="4590288" y="1993392"/>
            <a:ext cx="3072384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EBB75C"/>
                </a:solidFill>
                <a:latin typeface="Arial"/>
                <a:ea typeface="Arial"/>
                <a:cs typeface="Arial"/>
                <a:sym typeface="Arial"/>
              </a:rPr>
              <a:t>STATIONARITY &amp; MODELS</a:t>
            </a:r>
            <a:endParaRPr/>
          </a:p>
        </p:txBody>
      </p:sp>
      <p:sp>
        <p:nvSpPr>
          <p:cNvPr id="257" name="Google Shape;257;p21"/>
          <p:cNvSpPr txBox="1"/>
          <p:nvPr/>
        </p:nvSpPr>
        <p:spPr>
          <a:xfrm>
            <a:off x="4590288" y="2423160"/>
            <a:ext cx="3072300" cy="14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ADF original: −35.0147, p &lt; 0.001</a:t>
            </a:r>
            <a:br>
              <a:rPr b="0" lang="en-US" sz="13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US" sz="13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ARIMA(1,0,1)</a:t>
            </a:r>
            <a:br>
              <a:rPr b="0" lang="en-US" sz="13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US" sz="13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Prophet skipped (not installed)</a:t>
            </a:r>
            <a:br>
              <a:rPr b="0" lang="en-US" sz="13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US" sz="13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Chronological test: 864 hours</a:t>
            </a:r>
            <a:br>
              <a:rPr b="0" lang="en-US" sz="13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US" sz="13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ARIMA MAE: 1.2047</a:t>
            </a:r>
            <a:br>
              <a:rPr b="0" lang="en-US" sz="13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US" sz="13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Seasonal-naive MAE: 1.4907</a:t>
            </a:r>
            <a:endParaRPr/>
          </a:p>
        </p:txBody>
      </p:sp>
      <p:sp>
        <p:nvSpPr>
          <p:cNvPr id="258" name="Google Shape;258;p21"/>
          <p:cNvSpPr/>
          <p:nvPr/>
        </p:nvSpPr>
        <p:spPr>
          <a:xfrm>
            <a:off x="8046720" y="1828800"/>
            <a:ext cx="3474720" cy="2743200"/>
          </a:xfrm>
          <a:prstGeom prst="roundRect">
            <a:avLst>
              <a:gd fmla="val 16667" name="adj"/>
            </a:avLst>
          </a:prstGeom>
          <a:solidFill>
            <a:srgbClr val="1B293C"/>
          </a:solidFill>
          <a:ln cap="flat" cmpd="sng" w="9525">
            <a:solidFill>
              <a:srgbClr val="1B293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1"/>
          <p:cNvSpPr txBox="1"/>
          <p:nvPr/>
        </p:nvSpPr>
        <p:spPr>
          <a:xfrm>
            <a:off x="8247888" y="1993392"/>
            <a:ext cx="3072384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2BBEAE"/>
                </a:solidFill>
                <a:latin typeface="Arial"/>
                <a:ea typeface="Arial"/>
                <a:cs typeface="Arial"/>
                <a:sym typeface="Arial"/>
              </a:rPr>
              <a:t>VALIDATION</a:t>
            </a:r>
            <a:endParaRPr/>
          </a:p>
        </p:txBody>
      </p:sp>
      <p:sp>
        <p:nvSpPr>
          <p:cNvPr id="260" name="Google Shape;260;p21"/>
          <p:cNvSpPr txBox="1"/>
          <p:nvPr/>
        </p:nvSpPr>
        <p:spPr>
          <a:xfrm>
            <a:off x="8247888" y="2423160"/>
            <a:ext cx="3072300" cy="16362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ARIMA RMSE: 1.5114</a:t>
            </a:r>
            <a:br>
              <a:rPr b="0" lang="en-US" sz="13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US" sz="13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ARIMA MAPE: 56.83%</a:t>
            </a:r>
            <a:br>
              <a:rPr b="0" lang="en-US" sz="13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US" sz="13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Naive RMSE: 1.9484</a:t>
            </a:r>
            <a:br>
              <a:rPr b="0" lang="en-US" sz="13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US" sz="13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Naive MAPE: 73.22%</a:t>
            </a:r>
            <a:br>
              <a:rPr b="0" lang="en-US" sz="13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lang="en-US" sz="13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US" sz="13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24-hour forecast (30 Jun 2026):</a:t>
            </a:r>
            <a:br>
              <a:rPr b="0" lang="en-US" sz="13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US" sz="13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2.22 → 2.31 orders/hour</a:t>
            </a:r>
            <a:endParaRPr/>
          </a:p>
        </p:txBody>
      </p:sp>
      <p:sp>
        <p:nvSpPr>
          <p:cNvPr id="261" name="Google Shape;261;p21"/>
          <p:cNvSpPr txBox="1"/>
          <p:nvPr/>
        </p:nvSpPr>
        <p:spPr>
          <a:xfrm>
            <a:off x="822960" y="5074920"/>
            <a:ext cx="10607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DD7070"/>
                </a:solidFill>
                <a:latin typeface="Arial"/>
                <a:ea typeface="Arial"/>
                <a:cs typeface="Arial"/>
                <a:sym typeface="Arial"/>
              </a:rPr>
              <a:t>ARIMA had the lowest test MAE, but MAPE remained high (56.83%), so forecast precision is limited. The 24-hour forecast shown is the notebook’s historical forecast for 30 June 2026—not a current forecast. Use as directional capacity-planning evidence only.</a:t>
            </a:r>
            <a:endParaRPr/>
          </a:p>
        </p:txBody>
      </p:sp>
      <p:sp>
        <p:nvSpPr>
          <p:cNvPr id="262" name="Google Shape;262;p21"/>
          <p:cNvSpPr txBox="1"/>
          <p:nvPr/>
        </p:nvSpPr>
        <p:spPr>
          <a:xfrm>
            <a:off x="594360" y="6510528"/>
            <a:ext cx="98755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>
                <a:solidFill>
                  <a:srgbClr val="B1BECF"/>
                </a:solidFill>
                <a:latin typeface="Arial"/>
                <a:ea typeface="Arial"/>
                <a:cs typeface="Arial"/>
                <a:sym typeface="Arial"/>
              </a:rPr>
              <a:t>UBER EATS OPERATIONAL &amp; CUSTOMER INTELLIGENCE SYSTEM  •  SYNTHETIC-DATA CAPSTONE</a:t>
            </a:r>
            <a:endParaRPr/>
          </a:p>
        </p:txBody>
      </p:sp>
      <p:sp>
        <p:nvSpPr>
          <p:cNvPr id="263" name="Google Shape;263;p21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2BBEAE"/>
                </a:solidFill>
                <a:latin typeface="Arial"/>
                <a:ea typeface="Arial"/>
                <a:cs typeface="Arial"/>
                <a:sym typeface="Arial"/>
              </a:rPr>
              <a:t>09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927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2BBEAE"/>
                </a:solidFill>
                <a:latin typeface="Arial"/>
                <a:ea typeface="Arial"/>
                <a:cs typeface="Arial"/>
                <a:sym typeface="Arial"/>
              </a:rPr>
              <a:t>08 / DAY 6 • BUSINESS INTEGRATION</a:t>
            </a:r>
            <a:endParaRPr/>
          </a:p>
        </p:txBody>
      </p:sp>
      <p:sp>
        <p:nvSpPr>
          <p:cNvPr id="269" name="Google Shape;269;p22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The integration notebook consolidated the saved analytical outputs</a:t>
            </a:r>
            <a:endParaRPr/>
          </a:p>
        </p:txBody>
      </p:sp>
      <p:sp>
        <p:nvSpPr>
          <p:cNvPr id="270" name="Google Shape;270;p22"/>
          <p:cNvSpPr txBox="1"/>
          <p:nvPr/>
        </p:nvSpPr>
        <p:spPr>
          <a:xfrm>
            <a:off x="621792" y="1353312"/>
            <a:ext cx="10881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B1BECF"/>
                </a:solidFill>
                <a:latin typeface="Arial"/>
                <a:ea typeface="Arial"/>
                <a:cs typeface="Arial"/>
                <a:sym typeface="Arial"/>
              </a:rPr>
              <a:t>It loaded the seven synthetic source tables and available Days 2–5 artifacts into one business-insight workflow.</a:t>
            </a:r>
            <a:endParaRPr/>
          </a:p>
        </p:txBody>
      </p:sp>
      <p:sp>
        <p:nvSpPr>
          <p:cNvPr id="271" name="Google Shape;271;p22"/>
          <p:cNvSpPr/>
          <p:nvPr/>
        </p:nvSpPr>
        <p:spPr>
          <a:xfrm>
            <a:off x="731525" y="1828800"/>
            <a:ext cx="5166300" cy="2627700"/>
          </a:xfrm>
          <a:prstGeom prst="roundRect">
            <a:avLst>
              <a:gd fmla="val 16667" name="adj"/>
            </a:avLst>
          </a:prstGeom>
          <a:solidFill>
            <a:srgbClr val="1B293C"/>
          </a:solidFill>
          <a:ln cap="flat" cmpd="sng" w="9525">
            <a:solidFill>
              <a:srgbClr val="1B293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2"/>
          <p:cNvSpPr txBox="1"/>
          <p:nvPr/>
        </p:nvSpPr>
        <p:spPr>
          <a:xfrm>
            <a:off x="932688" y="1993392"/>
            <a:ext cx="4764024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2BBEAE"/>
                </a:solidFill>
                <a:latin typeface="Arial"/>
                <a:ea typeface="Arial"/>
                <a:cs typeface="Arial"/>
                <a:sym typeface="Arial"/>
              </a:rPr>
              <a:t>BUSINESS QUESTIONS</a:t>
            </a:r>
            <a:endParaRPr/>
          </a:p>
        </p:txBody>
      </p:sp>
      <p:sp>
        <p:nvSpPr>
          <p:cNvPr id="273" name="Google Shape;273;p22"/>
          <p:cNvSpPr txBox="1"/>
          <p:nvPr/>
        </p:nvSpPr>
        <p:spPr>
          <a:xfrm>
            <a:off x="932688" y="2423160"/>
            <a:ext cx="4764000" cy="19947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DATA INVENTORY</a:t>
            </a:r>
            <a:br>
              <a:rPr b="0" lang="en-US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US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10,000 orders</a:t>
            </a:r>
            <a:br>
              <a:rPr b="0" lang="en-US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US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1,000 customers</a:t>
            </a:r>
            <a:br>
              <a:rPr b="0" lang="en-US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US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100 restaurants</a:t>
            </a:r>
            <a:br>
              <a:rPr b="0" lang="en-US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US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9,358 deliveries</a:t>
            </a:r>
            <a:br>
              <a:rPr b="0" lang="en-US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US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7,000 reviews</a:t>
            </a:r>
            <a:br>
              <a:rPr b="0" lang="en-US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lang="en-US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US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All seven source tables: zero duplicate rows and zero missing cells in the recorded quality check.</a:t>
            </a:r>
            <a:endParaRPr sz="1500"/>
          </a:p>
        </p:txBody>
      </p:sp>
      <p:sp>
        <p:nvSpPr>
          <p:cNvPr id="274" name="Google Shape;274;p22"/>
          <p:cNvSpPr/>
          <p:nvPr/>
        </p:nvSpPr>
        <p:spPr>
          <a:xfrm>
            <a:off x="6263650" y="1828800"/>
            <a:ext cx="5166300" cy="2627700"/>
          </a:xfrm>
          <a:prstGeom prst="roundRect">
            <a:avLst>
              <a:gd fmla="val 16667" name="adj"/>
            </a:avLst>
          </a:prstGeom>
          <a:solidFill>
            <a:srgbClr val="1B293C"/>
          </a:solidFill>
          <a:ln cap="flat" cmpd="sng" w="9525">
            <a:solidFill>
              <a:srgbClr val="1B293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2"/>
          <p:cNvSpPr txBox="1"/>
          <p:nvPr/>
        </p:nvSpPr>
        <p:spPr>
          <a:xfrm>
            <a:off x="6464807" y="1993392"/>
            <a:ext cx="4764024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EBB75C"/>
                </a:solidFill>
                <a:latin typeface="Arial"/>
                <a:ea typeface="Arial"/>
                <a:cs typeface="Arial"/>
                <a:sym typeface="Arial"/>
              </a:rPr>
              <a:t>DECISION SUPPORT</a:t>
            </a:r>
            <a:endParaRPr/>
          </a:p>
        </p:txBody>
      </p:sp>
      <p:sp>
        <p:nvSpPr>
          <p:cNvPr id="276" name="Google Shape;276;p22"/>
          <p:cNvSpPr txBox="1"/>
          <p:nvPr/>
        </p:nvSpPr>
        <p:spPr>
          <a:xfrm>
            <a:off x="6464807" y="2423160"/>
            <a:ext cx="4764000" cy="17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INTEGRATED MODEL RESULTS</a:t>
            </a:r>
            <a:br>
              <a:rPr b="0" lang="en-US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US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Best delivery model: Lasso</a:t>
            </a:r>
            <a:br>
              <a:rPr b="0" lang="en-US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US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MAE 4.025 min • R² 0.909</a:t>
            </a:r>
            <a:br>
              <a:rPr b="0" lang="en-US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lang="en-US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US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Best demand model: ARIMA(1,0,1)</a:t>
            </a:r>
            <a:br>
              <a:rPr b="0" lang="en-US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US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MAE 1.205 orders/hour</a:t>
            </a:r>
            <a:br>
              <a:rPr b="0" lang="en-US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lang="en-US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US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Negative-labeled reviews: 2,373 / 7,000 (33.9%)</a:t>
            </a:r>
            <a:endParaRPr sz="1500"/>
          </a:p>
        </p:txBody>
      </p:sp>
      <p:sp>
        <p:nvSpPr>
          <p:cNvPr id="277" name="Google Shape;277;p22"/>
          <p:cNvSpPr txBox="1"/>
          <p:nvPr/>
        </p:nvSpPr>
        <p:spPr>
          <a:xfrm>
            <a:off x="822960" y="4709160"/>
            <a:ext cx="106984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DD7070"/>
                </a:solidFill>
                <a:latin typeface="Arial"/>
                <a:ea typeface="Arial"/>
                <a:cs typeface="Arial"/>
                <a:sym typeface="Arial"/>
              </a:rPr>
              <a:t>Data-quality caution: the delivery_status field had only one distinct category in this extract, limiting status-based analysis. Day 6 aggregates saved artifacts; it does not retrain models. All findings are illustrative because the underlying data is synthetic.</a:t>
            </a:r>
            <a:endParaRPr/>
          </a:p>
        </p:txBody>
      </p:sp>
      <p:sp>
        <p:nvSpPr>
          <p:cNvPr id="278" name="Google Shape;278;p22"/>
          <p:cNvSpPr txBox="1"/>
          <p:nvPr/>
        </p:nvSpPr>
        <p:spPr>
          <a:xfrm>
            <a:off x="594360" y="6510528"/>
            <a:ext cx="98755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>
                <a:solidFill>
                  <a:srgbClr val="B1BECF"/>
                </a:solidFill>
                <a:latin typeface="Arial"/>
                <a:ea typeface="Arial"/>
                <a:cs typeface="Arial"/>
                <a:sym typeface="Arial"/>
              </a:rPr>
              <a:t>UBER EATS OPERATIONAL &amp; CUSTOMER INTELLIGENCE SYSTEM  •  SYNTHETIC-DATA CAPSTONE</a:t>
            </a:r>
            <a:endParaRPr/>
          </a:p>
        </p:txBody>
      </p:sp>
      <p:sp>
        <p:nvSpPr>
          <p:cNvPr id="279" name="Google Shape;279;p22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2BBEAE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927"/>
        </a:solid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3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2BBEAE"/>
                </a:solidFill>
                <a:latin typeface="Arial"/>
                <a:ea typeface="Arial"/>
                <a:cs typeface="Arial"/>
                <a:sym typeface="Arial"/>
              </a:rPr>
              <a:t>09 / BUSINESS IMPACT</a:t>
            </a:r>
            <a:endParaRPr/>
          </a:p>
        </p:txBody>
      </p:sp>
      <p:sp>
        <p:nvSpPr>
          <p:cNvPr id="285" name="Google Shape;285;p23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What the system can support</a:t>
            </a:r>
            <a:endParaRPr/>
          </a:p>
        </p:txBody>
      </p:sp>
      <p:sp>
        <p:nvSpPr>
          <p:cNvPr id="286" name="Google Shape;286;p23"/>
          <p:cNvSpPr txBox="1"/>
          <p:nvPr/>
        </p:nvSpPr>
        <p:spPr>
          <a:xfrm>
            <a:off x="621792" y="1353312"/>
            <a:ext cx="10881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B1BECF"/>
                </a:solidFill>
                <a:latin typeface="Arial"/>
                <a:ea typeface="Arial"/>
                <a:cs typeface="Arial"/>
                <a:sym typeface="Arial"/>
              </a:rPr>
              <a:t>A decision-support blueprint rather than an automated operational deployment.</a:t>
            </a:r>
            <a:endParaRPr/>
          </a:p>
        </p:txBody>
      </p:sp>
      <p:sp>
        <p:nvSpPr>
          <p:cNvPr id="287" name="Google Shape;287;p23"/>
          <p:cNvSpPr/>
          <p:nvPr/>
        </p:nvSpPr>
        <p:spPr>
          <a:xfrm>
            <a:off x="777240" y="1737360"/>
            <a:ext cx="10652760" cy="685800"/>
          </a:xfrm>
          <a:prstGeom prst="roundRect">
            <a:avLst>
              <a:gd fmla="val 16667" name="adj"/>
            </a:avLst>
          </a:prstGeom>
          <a:solidFill>
            <a:srgbClr val="1B293C"/>
          </a:solidFill>
          <a:ln cap="flat" cmpd="sng" w="9525">
            <a:solidFill>
              <a:srgbClr val="1B293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3"/>
          <p:cNvSpPr txBox="1"/>
          <p:nvPr/>
        </p:nvSpPr>
        <p:spPr>
          <a:xfrm>
            <a:off x="978408" y="1901952"/>
            <a:ext cx="10250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2BBEAE"/>
                </a:solidFill>
                <a:latin typeface="Arial"/>
                <a:ea typeface="Arial"/>
                <a:cs typeface="Arial"/>
                <a:sym typeface="Arial"/>
              </a:rPr>
              <a:t>CUSTOMER RETENTION</a:t>
            </a:r>
            <a:endParaRPr/>
          </a:p>
        </p:txBody>
      </p:sp>
      <p:sp>
        <p:nvSpPr>
          <p:cNvPr id="289" name="Google Shape;289;p23"/>
          <p:cNvSpPr txBox="1"/>
          <p:nvPr/>
        </p:nvSpPr>
        <p:spPr>
          <a:xfrm>
            <a:off x="6026658" y="2127888"/>
            <a:ext cx="102504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Prioritize engagement using observed order frequency and spending profiles.</a:t>
            </a:r>
            <a:endParaRPr/>
          </a:p>
        </p:txBody>
      </p:sp>
      <p:sp>
        <p:nvSpPr>
          <p:cNvPr id="290" name="Google Shape;290;p23"/>
          <p:cNvSpPr/>
          <p:nvPr/>
        </p:nvSpPr>
        <p:spPr>
          <a:xfrm>
            <a:off x="777240" y="2578608"/>
            <a:ext cx="10652760" cy="685800"/>
          </a:xfrm>
          <a:prstGeom prst="roundRect">
            <a:avLst>
              <a:gd fmla="val 16667" name="adj"/>
            </a:avLst>
          </a:prstGeom>
          <a:solidFill>
            <a:srgbClr val="1B293C"/>
          </a:solidFill>
          <a:ln cap="flat" cmpd="sng" w="9525">
            <a:solidFill>
              <a:srgbClr val="1B293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3"/>
          <p:cNvSpPr txBox="1"/>
          <p:nvPr/>
        </p:nvSpPr>
        <p:spPr>
          <a:xfrm>
            <a:off x="978408" y="2743200"/>
            <a:ext cx="10250424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EBB75C"/>
                </a:solidFill>
                <a:latin typeface="Arial"/>
                <a:ea typeface="Arial"/>
                <a:cs typeface="Arial"/>
                <a:sym typeface="Arial"/>
              </a:rPr>
              <a:t>RESTAURANT OPERATIONS</a:t>
            </a:r>
            <a:endParaRPr/>
          </a:p>
        </p:txBody>
      </p:sp>
      <p:sp>
        <p:nvSpPr>
          <p:cNvPr id="292" name="Google Shape;292;p23"/>
          <p:cNvSpPr txBox="1"/>
          <p:nvPr/>
        </p:nvSpPr>
        <p:spPr>
          <a:xfrm>
            <a:off x="5817108" y="2984424"/>
            <a:ext cx="102504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Investigate preparation-time and cancellation patterns across restaurant groups.</a:t>
            </a:r>
            <a:endParaRPr/>
          </a:p>
        </p:txBody>
      </p:sp>
      <p:sp>
        <p:nvSpPr>
          <p:cNvPr id="293" name="Google Shape;293;p23"/>
          <p:cNvSpPr/>
          <p:nvPr/>
        </p:nvSpPr>
        <p:spPr>
          <a:xfrm>
            <a:off x="777240" y="3419856"/>
            <a:ext cx="10652760" cy="685800"/>
          </a:xfrm>
          <a:prstGeom prst="roundRect">
            <a:avLst>
              <a:gd fmla="val 16667" name="adj"/>
            </a:avLst>
          </a:prstGeom>
          <a:solidFill>
            <a:srgbClr val="1B293C"/>
          </a:solidFill>
          <a:ln cap="flat" cmpd="sng" w="9525">
            <a:solidFill>
              <a:srgbClr val="1B293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3"/>
          <p:cNvSpPr txBox="1"/>
          <p:nvPr/>
        </p:nvSpPr>
        <p:spPr>
          <a:xfrm>
            <a:off x="978408" y="3584448"/>
            <a:ext cx="10250424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2BBEAE"/>
                </a:solidFill>
                <a:latin typeface="Arial"/>
                <a:ea typeface="Arial"/>
                <a:cs typeface="Arial"/>
                <a:sym typeface="Arial"/>
              </a:rPr>
              <a:t>CUSTOMER EXPERIENCE</a:t>
            </a:r>
            <a:endParaRPr/>
          </a:p>
        </p:txBody>
      </p:sp>
      <p:sp>
        <p:nvSpPr>
          <p:cNvPr id="295" name="Google Shape;295;p23"/>
          <p:cNvSpPr txBox="1"/>
          <p:nvPr/>
        </p:nvSpPr>
        <p:spPr>
          <a:xfrm>
            <a:off x="6521958" y="3839359"/>
            <a:ext cx="102504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Use review themes to identify service issues for operational follow-up.</a:t>
            </a:r>
            <a:endParaRPr/>
          </a:p>
        </p:txBody>
      </p:sp>
      <p:sp>
        <p:nvSpPr>
          <p:cNvPr id="296" name="Google Shape;296;p23"/>
          <p:cNvSpPr/>
          <p:nvPr/>
        </p:nvSpPr>
        <p:spPr>
          <a:xfrm>
            <a:off x="777240" y="4261104"/>
            <a:ext cx="10652760" cy="685800"/>
          </a:xfrm>
          <a:prstGeom prst="roundRect">
            <a:avLst>
              <a:gd fmla="val 16667" name="adj"/>
            </a:avLst>
          </a:prstGeom>
          <a:solidFill>
            <a:srgbClr val="1B293C"/>
          </a:solidFill>
          <a:ln cap="flat" cmpd="sng" w="9525">
            <a:solidFill>
              <a:srgbClr val="1B293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3"/>
          <p:cNvSpPr txBox="1"/>
          <p:nvPr/>
        </p:nvSpPr>
        <p:spPr>
          <a:xfrm>
            <a:off x="978408" y="4425696"/>
            <a:ext cx="10250424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EBB75C"/>
                </a:solidFill>
                <a:latin typeface="Arial"/>
                <a:ea typeface="Arial"/>
                <a:cs typeface="Arial"/>
                <a:sym typeface="Arial"/>
              </a:rPr>
              <a:t>DELIVERY EXPERIENCE</a:t>
            </a:r>
            <a:endParaRPr/>
          </a:p>
        </p:txBody>
      </p:sp>
      <p:sp>
        <p:nvSpPr>
          <p:cNvPr id="298" name="Google Shape;298;p23"/>
          <p:cNvSpPr txBox="1"/>
          <p:nvPr/>
        </p:nvSpPr>
        <p:spPr>
          <a:xfrm>
            <a:off x="6441958" y="4693557"/>
            <a:ext cx="102504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Use validated delivery-time estimates to improve customer-facing ETAs.</a:t>
            </a:r>
            <a:endParaRPr/>
          </a:p>
        </p:txBody>
      </p:sp>
      <p:sp>
        <p:nvSpPr>
          <p:cNvPr id="299" name="Google Shape;299;p23"/>
          <p:cNvSpPr/>
          <p:nvPr/>
        </p:nvSpPr>
        <p:spPr>
          <a:xfrm>
            <a:off x="777240" y="5102352"/>
            <a:ext cx="10652760" cy="685800"/>
          </a:xfrm>
          <a:prstGeom prst="roundRect">
            <a:avLst>
              <a:gd fmla="val 16667" name="adj"/>
            </a:avLst>
          </a:prstGeom>
          <a:solidFill>
            <a:srgbClr val="1B293C"/>
          </a:solidFill>
          <a:ln cap="flat" cmpd="sng" w="9525">
            <a:solidFill>
              <a:srgbClr val="1B293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3"/>
          <p:cNvSpPr txBox="1"/>
          <p:nvPr/>
        </p:nvSpPr>
        <p:spPr>
          <a:xfrm>
            <a:off x="978408" y="5266944"/>
            <a:ext cx="10250424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2BBEAE"/>
                </a:solidFill>
                <a:latin typeface="Arial"/>
                <a:ea typeface="Arial"/>
                <a:cs typeface="Arial"/>
                <a:sym typeface="Arial"/>
              </a:rPr>
              <a:t>CAPACITY PLANNING</a:t>
            </a:r>
            <a:endParaRPr/>
          </a:p>
        </p:txBody>
      </p:sp>
      <p:sp>
        <p:nvSpPr>
          <p:cNvPr id="301" name="Google Shape;301;p23"/>
          <p:cNvSpPr txBox="1"/>
          <p:nvPr/>
        </p:nvSpPr>
        <p:spPr>
          <a:xfrm>
            <a:off x="5607552" y="5507550"/>
            <a:ext cx="77295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Use hourly demand forecasts as an input to rider scheduling and peak-hour planning.</a:t>
            </a:r>
            <a:endParaRPr/>
          </a:p>
        </p:txBody>
      </p:sp>
      <p:sp>
        <p:nvSpPr>
          <p:cNvPr id="302" name="Google Shape;302;p23"/>
          <p:cNvSpPr txBox="1"/>
          <p:nvPr/>
        </p:nvSpPr>
        <p:spPr>
          <a:xfrm>
            <a:off x="594360" y="6510528"/>
            <a:ext cx="98755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>
                <a:solidFill>
                  <a:srgbClr val="B1BECF"/>
                </a:solidFill>
                <a:latin typeface="Arial"/>
                <a:ea typeface="Arial"/>
                <a:cs typeface="Arial"/>
                <a:sym typeface="Arial"/>
              </a:rPr>
              <a:t>UBER EATS OPERATIONAL &amp; CUSTOMER INTELLIGENCE SYSTEM  •  SYNTHETIC-DATA CAPSTONE</a:t>
            </a:r>
            <a:endParaRPr/>
          </a:p>
        </p:txBody>
      </p:sp>
      <p:sp>
        <p:nvSpPr>
          <p:cNvPr id="303" name="Google Shape;303;p23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2BBEAE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927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4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2BBEAE"/>
                </a:solidFill>
                <a:latin typeface="Arial"/>
                <a:ea typeface="Arial"/>
                <a:cs typeface="Arial"/>
                <a:sym typeface="Arial"/>
              </a:rPr>
              <a:t>10 / LIMITATIONS</a:t>
            </a:r>
            <a:endParaRPr/>
          </a:p>
        </p:txBody>
      </p:sp>
      <p:sp>
        <p:nvSpPr>
          <p:cNvPr id="309" name="Google Shape;309;p24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Interpret results with the right level of confidence</a:t>
            </a:r>
            <a:endParaRPr/>
          </a:p>
        </p:txBody>
      </p:sp>
      <p:sp>
        <p:nvSpPr>
          <p:cNvPr id="310" name="Google Shape;310;p24"/>
          <p:cNvSpPr txBox="1"/>
          <p:nvPr/>
        </p:nvSpPr>
        <p:spPr>
          <a:xfrm>
            <a:off x="621792" y="1353312"/>
            <a:ext cx="10881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B1BECF"/>
                </a:solidFill>
                <a:latin typeface="Arial"/>
                <a:ea typeface="Arial"/>
                <a:cs typeface="Arial"/>
                <a:sym typeface="Arial"/>
              </a:rPr>
              <a:t>The project is a synthetic-data capstone and its outputs are methodological demonstrations.</a:t>
            </a:r>
            <a:endParaRPr/>
          </a:p>
        </p:txBody>
      </p:sp>
      <p:sp>
        <p:nvSpPr>
          <p:cNvPr id="311" name="Google Shape;311;p24"/>
          <p:cNvSpPr/>
          <p:nvPr/>
        </p:nvSpPr>
        <p:spPr>
          <a:xfrm>
            <a:off x="731525" y="1828800"/>
            <a:ext cx="5166300" cy="4098900"/>
          </a:xfrm>
          <a:prstGeom prst="roundRect">
            <a:avLst>
              <a:gd fmla="val 16667" name="adj"/>
            </a:avLst>
          </a:prstGeom>
          <a:solidFill>
            <a:srgbClr val="1B293C"/>
          </a:solidFill>
          <a:ln cap="flat" cmpd="sng" w="9525">
            <a:solidFill>
              <a:srgbClr val="1B293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4"/>
          <p:cNvSpPr txBox="1"/>
          <p:nvPr/>
        </p:nvSpPr>
        <p:spPr>
          <a:xfrm>
            <a:off x="932688" y="1993392"/>
            <a:ext cx="4764024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2BBEAE"/>
                </a:solidFill>
                <a:latin typeface="Arial"/>
                <a:ea typeface="Arial"/>
                <a:cs typeface="Arial"/>
                <a:sym typeface="Arial"/>
              </a:rPr>
              <a:t>DATA &amp; MODEL LIMITATIONS</a:t>
            </a:r>
            <a:endParaRPr/>
          </a:p>
        </p:txBody>
      </p:sp>
      <p:sp>
        <p:nvSpPr>
          <p:cNvPr id="313" name="Google Shape;313;p24"/>
          <p:cNvSpPr txBox="1"/>
          <p:nvPr/>
        </p:nvSpPr>
        <p:spPr>
          <a:xfrm>
            <a:off x="932688" y="2423160"/>
            <a:ext cx="4764000" cy="32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5F7FA"/>
                </a:solidFill>
              </a:rPr>
              <a:t>DATA &amp; MODEL LIMITATIONS</a:t>
            </a:r>
            <a:br>
              <a:rPr b="0" lang="en-US" sz="13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US" sz="13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• Synthetic records may not reproduce real marketplace behavior.</a:t>
            </a:r>
            <a:br>
              <a:rPr b="0" lang="en-US" sz="13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US" sz="13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• NLP labels are rating-derived proxies; perfect Naive Bayes scores do not establish real-world sentiment accuracy.</a:t>
            </a:r>
            <a:br>
              <a:rPr b="0" lang="en-US" sz="13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US" sz="13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• Forecast MAPE was 56.83%, limiting precision.</a:t>
            </a:r>
            <a:br>
              <a:rPr b="0" lang="en-US" sz="13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US" sz="13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• Predictive importance is not causal evidence.</a:t>
            </a:r>
            <a:br>
              <a:rPr b="0" lang="en-US" sz="13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lang="en-US" sz="13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-US" sz="1300">
                <a:solidFill>
                  <a:srgbClr val="F5F7FA"/>
                </a:solidFill>
              </a:rPr>
              <a:t>VALIDATION LIMITATIONS</a:t>
            </a:r>
            <a:br>
              <a:rPr b="1" lang="en-US" sz="1300">
                <a:solidFill>
                  <a:srgbClr val="F5F7FA"/>
                </a:solidFill>
              </a:rPr>
            </a:br>
            <a:r>
              <a:rPr b="0" lang="en-US" sz="13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• Delivery status had one distinct category in this extract.</a:t>
            </a:r>
            <a:br>
              <a:rPr b="0" lang="en-US" sz="13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US" sz="13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• Forecasting used one chronological holdout; rolling-origin validation is still needed.</a:t>
            </a:r>
            <a:br>
              <a:rPr b="0" lang="en-US" sz="13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US" sz="13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• Prediction features must be available at inference time.</a:t>
            </a:r>
            <a:br>
              <a:rPr b="0" lang="en-US" sz="13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US" sz="13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• Production use requires monitoring and retraining.</a:t>
            </a:r>
            <a:endParaRPr/>
          </a:p>
        </p:txBody>
      </p:sp>
      <p:sp>
        <p:nvSpPr>
          <p:cNvPr id="314" name="Google Shape;314;p24"/>
          <p:cNvSpPr/>
          <p:nvPr/>
        </p:nvSpPr>
        <p:spPr>
          <a:xfrm>
            <a:off x="6263650" y="1828800"/>
            <a:ext cx="5166300" cy="4098900"/>
          </a:xfrm>
          <a:prstGeom prst="roundRect">
            <a:avLst>
              <a:gd fmla="val 16667" name="adj"/>
            </a:avLst>
          </a:prstGeom>
          <a:solidFill>
            <a:srgbClr val="1B293C"/>
          </a:solidFill>
          <a:ln cap="flat" cmpd="sng" w="9525">
            <a:solidFill>
              <a:srgbClr val="1B293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4"/>
          <p:cNvSpPr txBox="1"/>
          <p:nvPr/>
        </p:nvSpPr>
        <p:spPr>
          <a:xfrm>
            <a:off x="6464807" y="1993392"/>
            <a:ext cx="4764024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EBB75C"/>
                </a:solidFill>
                <a:latin typeface="Arial"/>
                <a:ea typeface="Arial"/>
                <a:cs typeface="Arial"/>
                <a:sym typeface="Arial"/>
              </a:rPr>
              <a:t>VALIDATION LIMITATIONS</a:t>
            </a:r>
            <a:endParaRPr/>
          </a:p>
        </p:txBody>
      </p:sp>
      <p:sp>
        <p:nvSpPr>
          <p:cNvPr id="316" name="Google Shape;316;p24"/>
          <p:cNvSpPr txBox="1"/>
          <p:nvPr/>
        </p:nvSpPr>
        <p:spPr>
          <a:xfrm>
            <a:off x="6464807" y="2423160"/>
            <a:ext cx="4764000" cy="18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• Day 3–5 numerical evaluation outputs were not captured in the available record.</a:t>
            </a:r>
            <a:br>
              <a:rPr b="0" lang="en-US" sz="15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US" sz="15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• Forecast assessment needs rolling-origin validation for stronger confidence.</a:t>
            </a:r>
            <a:br>
              <a:rPr b="0" lang="en-US" sz="15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US" sz="15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• Prediction features must be available at prediction time.</a:t>
            </a:r>
            <a:br>
              <a:rPr b="0" lang="en-US" sz="15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US" sz="15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• Production use requires monitoring and retraining.</a:t>
            </a:r>
            <a:endParaRPr/>
          </a:p>
        </p:txBody>
      </p:sp>
      <p:sp>
        <p:nvSpPr>
          <p:cNvPr id="317" name="Google Shape;317;p24"/>
          <p:cNvSpPr txBox="1"/>
          <p:nvPr/>
        </p:nvSpPr>
        <p:spPr>
          <a:xfrm>
            <a:off x="594360" y="6510528"/>
            <a:ext cx="98755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>
                <a:solidFill>
                  <a:srgbClr val="B1BECF"/>
                </a:solidFill>
                <a:latin typeface="Arial"/>
                <a:ea typeface="Arial"/>
                <a:cs typeface="Arial"/>
                <a:sym typeface="Arial"/>
              </a:rPr>
              <a:t>UBER EATS OPERATIONAL &amp; CUSTOMER INTELLIGENCE SYSTEM  •  SYNTHETIC-DATA CAPSTONE</a:t>
            </a:r>
            <a:endParaRPr/>
          </a:p>
        </p:txBody>
      </p:sp>
      <p:sp>
        <p:nvSpPr>
          <p:cNvPr id="318" name="Google Shape;318;p24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2BBEAE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927"/>
        </a:solidFill>
      </p:bgPr>
    </p:bg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5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2BBEAE"/>
                </a:solidFill>
                <a:latin typeface="Arial"/>
                <a:ea typeface="Arial"/>
                <a:cs typeface="Arial"/>
                <a:sym typeface="Arial"/>
              </a:rPr>
              <a:t>11 / FUTURE SCOPE</a:t>
            </a:r>
            <a:endParaRPr/>
          </a:p>
        </p:txBody>
      </p:sp>
      <p:sp>
        <p:nvSpPr>
          <p:cNvPr id="324" name="Google Shape;324;p25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From capstone prototype to operational intelligence</a:t>
            </a:r>
            <a:endParaRPr/>
          </a:p>
        </p:txBody>
      </p:sp>
      <p:sp>
        <p:nvSpPr>
          <p:cNvPr id="325" name="Google Shape;325;p25"/>
          <p:cNvSpPr txBox="1"/>
          <p:nvPr/>
        </p:nvSpPr>
        <p:spPr>
          <a:xfrm>
            <a:off x="621792" y="1353312"/>
            <a:ext cx="10881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B1BECF"/>
                </a:solidFill>
                <a:latin typeface="Arial"/>
                <a:ea typeface="Arial"/>
                <a:cs typeface="Arial"/>
                <a:sym typeface="Arial"/>
              </a:rPr>
              <a:t>Improvements that would make the solution more reliable and deployment-ready.</a:t>
            </a:r>
            <a:endParaRPr/>
          </a:p>
        </p:txBody>
      </p:sp>
      <p:sp>
        <p:nvSpPr>
          <p:cNvPr id="326" name="Google Shape;326;p25"/>
          <p:cNvSpPr/>
          <p:nvPr/>
        </p:nvSpPr>
        <p:spPr>
          <a:xfrm>
            <a:off x="731520" y="1828800"/>
            <a:ext cx="3474720" cy="2926080"/>
          </a:xfrm>
          <a:prstGeom prst="roundRect">
            <a:avLst>
              <a:gd fmla="val 16667" name="adj"/>
            </a:avLst>
          </a:prstGeom>
          <a:solidFill>
            <a:srgbClr val="1B293C"/>
          </a:solidFill>
          <a:ln cap="flat" cmpd="sng" w="9525">
            <a:solidFill>
              <a:srgbClr val="1B293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5"/>
          <p:cNvSpPr txBox="1"/>
          <p:nvPr/>
        </p:nvSpPr>
        <p:spPr>
          <a:xfrm>
            <a:off x="932688" y="1993392"/>
            <a:ext cx="3072384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2BBEAE"/>
                </a:solidFill>
                <a:latin typeface="Arial"/>
                <a:ea typeface="Arial"/>
                <a:cs typeface="Arial"/>
                <a:sym typeface="Arial"/>
              </a:rPr>
              <a:t>RICHER DATA</a:t>
            </a:r>
            <a:endParaRPr/>
          </a:p>
        </p:txBody>
      </p:sp>
      <p:sp>
        <p:nvSpPr>
          <p:cNvPr id="328" name="Google Shape;328;p25"/>
          <p:cNvSpPr txBox="1"/>
          <p:nvPr/>
        </p:nvSpPr>
        <p:spPr>
          <a:xfrm>
            <a:off x="932688" y="2423160"/>
            <a:ext cx="30723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Real order and delivery history</a:t>
            </a:r>
            <a:br>
              <a:rPr b="0" lang="en-US" sz="15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US" sz="15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Geospatial zones</a:t>
            </a:r>
            <a:br>
              <a:rPr b="0" lang="en-US" sz="15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US" sz="15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Traffic and weather feeds</a:t>
            </a:r>
            <a:br>
              <a:rPr b="0" lang="en-US" sz="15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US" sz="15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Promotions and holidays</a:t>
            </a:r>
            <a:endParaRPr/>
          </a:p>
        </p:txBody>
      </p:sp>
      <p:sp>
        <p:nvSpPr>
          <p:cNvPr id="329" name="Google Shape;329;p25"/>
          <p:cNvSpPr/>
          <p:nvPr/>
        </p:nvSpPr>
        <p:spPr>
          <a:xfrm>
            <a:off x="4389120" y="1828800"/>
            <a:ext cx="3474720" cy="2926080"/>
          </a:xfrm>
          <a:prstGeom prst="roundRect">
            <a:avLst>
              <a:gd fmla="val 16667" name="adj"/>
            </a:avLst>
          </a:prstGeom>
          <a:solidFill>
            <a:srgbClr val="1B293C"/>
          </a:solidFill>
          <a:ln cap="flat" cmpd="sng" w="9525">
            <a:solidFill>
              <a:srgbClr val="1B293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25"/>
          <p:cNvSpPr txBox="1"/>
          <p:nvPr/>
        </p:nvSpPr>
        <p:spPr>
          <a:xfrm>
            <a:off x="4590288" y="1993392"/>
            <a:ext cx="3072384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EBB75C"/>
                </a:solidFill>
                <a:latin typeface="Arial"/>
                <a:ea typeface="Arial"/>
                <a:cs typeface="Arial"/>
                <a:sym typeface="Arial"/>
              </a:rPr>
              <a:t>STRONGER VALIDATION</a:t>
            </a:r>
            <a:endParaRPr/>
          </a:p>
        </p:txBody>
      </p:sp>
      <p:sp>
        <p:nvSpPr>
          <p:cNvPr id="331" name="Google Shape;331;p25"/>
          <p:cNvSpPr txBox="1"/>
          <p:nvPr/>
        </p:nvSpPr>
        <p:spPr>
          <a:xfrm>
            <a:off x="4590288" y="2423160"/>
            <a:ext cx="30723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Out-of-time regression tests</a:t>
            </a:r>
            <a:br>
              <a:rPr b="0" lang="en-US" sz="15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US" sz="15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Rolling-origin forecasts</a:t>
            </a:r>
            <a:br>
              <a:rPr b="0" lang="en-US" sz="15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US" sz="15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Sentiment error analysis</a:t>
            </a:r>
            <a:br>
              <a:rPr b="0" lang="en-US" sz="15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US" sz="15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Cluster stability checks</a:t>
            </a:r>
            <a:endParaRPr/>
          </a:p>
        </p:txBody>
      </p:sp>
      <p:sp>
        <p:nvSpPr>
          <p:cNvPr id="332" name="Google Shape;332;p25"/>
          <p:cNvSpPr/>
          <p:nvPr/>
        </p:nvSpPr>
        <p:spPr>
          <a:xfrm>
            <a:off x="8046720" y="1828800"/>
            <a:ext cx="3474720" cy="2926080"/>
          </a:xfrm>
          <a:prstGeom prst="roundRect">
            <a:avLst>
              <a:gd fmla="val 16667" name="adj"/>
            </a:avLst>
          </a:prstGeom>
          <a:solidFill>
            <a:srgbClr val="1B293C"/>
          </a:solidFill>
          <a:ln cap="flat" cmpd="sng" w="9525">
            <a:solidFill>
              <a:srgbClr val="1B293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5"/>
          <p:cNvSpPr txBox="1"/>
          <p:nvPr/>
        </p:nvSpPr>
        <p:spPr>
          <a:xfrm>
            <a:off x="8247888" y="1993392"/>
            <a:ext cx="3072384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2BBEAE"/>
                </a:solidFill>
                <a:latin typeface="Arial"/>
                <a:ea typeface="Arial"/>
                <a:cs typeface="Arial"/>
                <a:sym typeface="Arial"/>
              </a:rPr>
              <a:t>DEPLOYMENT</a:t>
            </a:r>
            <a:endParaRPr/>
          </a:p>
        </p:txBody>
      </p:sp>
      <p:sp>
        <p:nvSpPr>
          <p:cNvPr id="334" name="Google Shape;334;p25"/>
          <p:cNvSpPr txBox="1"/>
          <p:nvPr/>
        </p:nvSpPr>
        <p:spPr>
          <a:xfrm>
            <a:off x="8247888" y="2423160"/>
            <a:ext cx="30723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Batch / API inference</a:t>
            </a:r>
            <a:br>
              <a:rPr b="0" lang="en-US" sz="15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US" sz="15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Monitoring and drift alerts</a:t>
            </a:r>
            <a:br>
              <a:rPr b="0" lang="en-US" sz="15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US" sz="15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Model retraining cadence</a:t>
            </a:r>
            <a:br>
              <a:rPr b="0" lang="en-US" sz="15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US" sz="15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Operational A/B tests</a:t>
            </a:r>
            <a:endParaRPr/>
          </a:p>
        </p:txBody>
      </p:sp>
      <p:sp>
        <p:nvSpPr>
          <p:cNvPr id="335" name="Google Shape;335;p25"/>
          <p:cNvSpPr txBox="1"/>
          <p:nvPr/>
        </p:nvSpPr>
        <p:spPr>
          <a:xfrm>
            <a:off x="594360" y="6510528"/>
            <a:ext cx="98755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>
                <a:solidFill>
                  <a:srgbClr val="B1BECF"/>
                </a:solidFill>
                <a:latin typeface="Arial"/>
                <a:ea typeface="Arial"/>
                <a:cs typeface="Arial"/>
                <a:sym typeface="Arial"/>
              </a:rPr>
              <a:t>UBER EATS OPERATIONAL &amp; CUSTOMER INTELLIGENCE SYSTEM  •  SYNTHETIC-DATA CAPSTONE</a:t>
            </a:r>
            <a:endParaRPr/>
          </a:p>
        </p:txBody>
      </p:sp>
      <p:sp>
        <p:nvSpPr>
          <p:cNvPr id="336" name="Google Shape;336;p25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2BBEAE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927"/>
        </a:solid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6"/>
          <p:cNvSpPr txBox="1"/>
          <p:nvPr/>
        </p:nvSpPr>
        <p:spPr>
          <a:xfrm>
            <a:off x="777240" y="731520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2BBEAE"/>
                </a:solidFill>
                <a:latin typeface="Arial"/>
                <a:ea typeface="Arial"/>
                <a:cs typeface="Arial"/>
                <a:sym typeface="Arial"/>
              </a:rPr>
              <a:t>FINAL TAKEAWAY</a:t>
            </a:r>
            <a:endParaRPr/>
          </a:p>
        </p:txBody>
      </p:sp>
      <p:sp>
        <p:nvSpPr>
          <p:cNvPr id="342" name="Google Shape;342;p26"/>
          <p:cNvSpPr txBox="1"/>
          <p:nvPr/>
        </p:nvSpPr>
        <p:spPr>
          <a:xfrm>
            <a:off x="777240" y="1417320"/>
            <a:ext cx="105156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A connected view of</a:t>
            </a:r>
            <a:br>
              <a:rPr b="1" lang="en-US" sz="34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-US" sz="34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customers, operations and demand.</a:t>
            </a:r>
            <a:endParaRPr/>
          </a:p>
        </p:txBody>
      </p:sp>
      <p:sp>
        <p:nvSpPr>
          <p:cNvPr id="343" name="Google Shape;343;p26"/>
          <p:cNvSpPr txBox="1"/>
          <p:nvPr/>
        </p:nvSpPr>
        <p:spPr>
          <a:xfrm>
            <a:off x="822960" y="3063240"/>
            <a:ext cx="98755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0">
                <a:solidFill>
                  <a:srgbClr val="B1BECF"/>
                </a:solidFill>
                <a:latin typeface="Arial"/>
                <a:ea typeface="Arial"/>
                <a:cs typeface="Arial"/>
                <a:sym typeface="Arial"/>
              </a:rPr>
              <a:t>The capstone demonstrates how segmentation, text analytics, regression and time-series methods can be organized into a single business intelligence workflow.</a:t>
            </a:r>
            <a:endParaRPr/>
          </a:p>
        </p:txBody>
      </p:sp>
      <p:sp>
        <p:nvSpPr>
          <p:cNvPr id="344" name="Google Shape;344;p26"/>
          <p:cNvSpPr/>
          <p:nvPr/>
        </p:nvSpPr>
        <p:spPr>
          <a:xfrm>
            <a:off x="822960" y="4754880"/>
            <a:ext cx="10469880" cy="868680"/>
          </a:xfrm>
          <a:prstGeom prst="roundRect">
            <a:avLst>
              <a:gd fmla="val 16667" name="adj"/>
            </a:avLst>
          </a:prstGeom>
          <a:solidFill>
            <a:srgbClr val="1B293C"/>
          </a:solidFill>
          <a:ln cap="flat" cmpd="sng" w="9525">
            <a:solidFill>
              <a:srgbClr val="1B293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26"/>
          <p:cNvSpPr txBox="1"/>
          <p:nvPr/>
        </p:nvSpPr>
        <p:spPr>
          <a:xfrm>
            <a:off x="1024128" y="4919472"/>
            <a:ext cx="10067544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EBB75C"/>
                </a:solidFill>
                <a:latin typeface="Arial"/>
                <a:ea typeface="Arial"/>
                <a:cs typeface="Arial"/>
                <a:sym typeface="Arial"/>
              </a:rPr>
              <a:t>PROJECT REPOSITORY</a:t>
            </a:r>
            <a:endParaRPr/>
          </a:p>
        </p:txBody>
      </p:sp>
      <p:sp>
        <p:nvSpPr>
          <p:cNvPr id="346" name="Google Shape;346;p26"/>
          <p:cNvSpPr txBox="1"/>
          <p:nvPr/>
        </p:nvSpPr>
        <p:spPr>
          <a:xfrm>
            <a:off x="1024128" y="5273040"/>
            <a:ext cx="100674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github.com/shanmuksrivatsav/uber-eats-intelligence</a:t>
            </a:r>
            <a:endParaRPr/>
          </a:p>
        </p:txBody>
      </p:sp>
      <p:sp>
        <p:nvSpPr>
          <p:cNvPr id="347" name="Google Shape;347;p26"/>
          <p:cNvSpPr txBox="1"/>
          <p:nvPr/>
        </p:nvSpPr>
        <p:spPr>
          <a:xfrm>
            <a:off x="594360" y="6510528"/>
            <a:ext cx="98755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>
                <a:solidFill>
                  <a:srgbClr val="B1BECF"/>
                </a:solidFill>
                <a:latin typeface="Arial"/>
                <a:ea typeface="Arial"/>
                <a:cs typeface="Arial"/>
                <a:sym typeface="Arial"/>
              </a:rPr>
              <a:t>UBER EATS OPERATIONAL &amp; CUSTOMER INTELLIGENCE SYSTEM  •  SYNTHETIC-DATA CAPSTONE</a:t>
            </a:r>
            <a:endParaRPr/>
          </a:p>
        </p:txBody>
      </p:sp>
      <p:sp>
        <p:nvSpPr>
          <p:cNvPr id="348" name="Google Shape;348;p26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2BBEAE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